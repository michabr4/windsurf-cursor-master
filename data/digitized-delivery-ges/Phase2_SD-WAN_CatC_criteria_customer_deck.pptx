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</p:sldIdLst>
  <p:sldSz cx="12192000" cy="6858000"/>
  <p:notesSz cx="6858000" cy="9144000"/>
  <p:embeddedFontLst>
    <p:embeddedFont>
      <p:font typeface="CiscoSansTT" panose="020B0503020201020303" pitchFamily="34" charset="0"/>
      <p:regular r:id="rId12"/>
      <p:bold r:id="rId13"/>
      <p:italic r:id="rId14"/>
      <p:boldItalic r:id="rId15"/>
    </p:embeddedFont>
    <p:embeddedFont>
      <p:font typeface="CiscoSansTT Medium" panose="020B0903020201090303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F6421-830F-6D41-9889-E64A4EF01E0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1DCBAECA-DC8C-0440-9CEB-F499C5B2B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8291"/>
  </p:normalViewPr>
  <p:slideViewPr>
    <p:cSldViewPr snapToGrid="0">
      <p:cViewPr varScale="1">
        <p:scale>
          <a:sx n="112" d="100"/>
          <a:sy n="112" d="100"/>
        </p:scale>
        <p:origin x="1272" y="4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Assessment</a:t>
          </a:r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2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2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2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2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4" presStyleCnt="12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5" presStyleCnt="12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6" presStyleCnt="12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7" presStyleCnt="12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8" presStyleCnt="12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9" presStyleCnt="12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0" presStyleCnt="12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5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1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6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02C6DC66-8C7A-A040-954D-0709300A1421}" srcId="{383B49E7-060F-644C-BC5D-5430754D0192}" destId="{7AB8539C-E848-114A-ACEB-A5D718CA1FBE}" srcOrd="10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9" destOrd="0" parTransId="{DFCD612F-8B90-F04A-9B84-E640D114B9D4}" sibTransId="{836F8D54-0F54-7548-8BB7-F3718F4CCCDB}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7" destOrd="0" parTransId="{1D7E3CB1-1FFD-3D4C-8102-1ADD7CAAEE15}" sibTransId="{A7E3D629-F759-0B4A-A5D1-FD032E0FFDA9}"/>
    <dgm:cxn modelId="{AD1AB2CA-2F36-394E-B155-771AD472518B}" srcId="{383B49E7-060F-644C-BC5D-5430754D0192}" destId="{CB61C2F8-4717-1F4E-8B8F-B05820899B2D}" srcOrd="8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4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3FD2C79C-5FCE-AB45-8A82-D285B45CE63E}" type="presParOf" srcId="{1DB3B44C-7467-AE4D-9230-CD12A1D6E611}" destId="{7AD32CBD-7A4D-BA44-9643-D249691B5889}" srcOrd="8" destOrd="0" presId="urn:microsoft.com/office/officeart/2005/8/layout/chevron1"/>
    <dgm:cxn modelId="{01E69B91-CB3F-EB43-9B93-8A5BC47601B2}" type="presParOf" srcId="{1DB3B44C-7467-AE4D-9230-CD12A1D6E611}" destId="{50629EF6-4A22-1745-80F4-0F4E316DF574}" srcOrd="9" destOrd="0" presId="urn:microsoft.com/office/officeart/2005/8/layout/chevron1"/>
    <dgm:cxn modelId="{75971728-EEF0-9344-AE0B-0DAADB63C9C3}" type="presParOf" srcId="{1DB3B44C-7467-AE4D-9230-CD12A1D6E611}" destId="{FBC20F8B-CB96-5A41-A1C4-D3AEA594FF49}" srcOrd="10" destOrd="0" presId="urn:microsoft.com/office/officeart/2005/8/layout/chevron1"/>
    <dgm:cxn modelId="{938CCA80-94F6-E94F-94E3-F0DDDA0F8C2F}" type="presParOf" srcId="{1DB3B44C-7467-AE4D-9230-CD12A1D6E611}" destId="{62263960-F59B-464A-878B-C43BFFB0FFB8}" srcOrd="11" destOrd="0" presId="urn:microsoft.com/office/officeart/2005/8/layout/chevron1"/>
    <dgm:cxn modelId="{2F8E4F74-913C-A148-B95F-BCEA864BE2DD}" type="presParOf" srcId="{1DB3B44C-7467-AE4D-9230-CD12A1D6E611}" destId="{249B4738-EDE4-ED4B-A309-6878AAF0261C}" srcOrd="12" destOrd="0" presId="urn:microsoft.com/office/officeart/2005/8/layout/chevron1"/>
    <dgm:cxn modelId="{0718D082-F22D-A246-98EE-44D7BDC38497}" type="presParOf" srcId="{1DB3B44C-7467-AE4D-9230-CD12A1D6E611}" destId="{0BD00DC4-0E51-C14E-9053-433AC904BF6F}" srcOrd="13" destOrd="0" presId="urn:microsoft.com/office/officeart/2005/8/layout/chevron1"/>
    <dgm:cxn modelId="{B6396910-21AA-8C47-B943-B3A530E66011}" type="presParOf" srcId="{1DB3B44C-7467-AE4D-9230-CD12A1D6E611}" destId="{7FC1DEBC-F4F9-854F-9E20-0C57932D8052}" srcOrd="14" destOrd="0" presId="urn:microsoft.com/office/officeart/2005/8/layout/chevron1"/>
    <dgm:cxn modelId="{1613DC01-57C3-0F46-8C52-69BF5493D5B3}" type="presParOf" srcId="{1DB3B44C-7467-AE4D-9230-CD12A1D6E611}" destId="{748DC326-5658-6047-AE99-7AA7AA52A126}" srcOrd="15" destOrd="0" presId="urn:microsoft.com/office/officeart/2005/8/layout/chevron1"/>
    <dgm:cxn modelId="{5B4D19D2-D795-F14C-8203-6F79CF2E7442}" type="presParOf" srcId="{1DB3B44C-7467-AE4D-9230-CD12A1D6E611}" destId="{B58CF005-4B43-404F-A643-1100E2CF81FF}" srcOrd="16" destOrd="0" presId="urn:microsoft.com/office/officeart/2005/8/layout/chevron1"/>
    <dgm:cxn modelId="{5BB02F4A-51F1-FB48-B087-A98BAA6A4DDF}" type="presParOf" srcId="{1DB3B44C-7467-AE4D-9230-CD12A1D6E611}" destId="{5EC0042B-C20B-FC4A-B560-10BBA34B2CDA}" srcOrd="17" destOrd="0" presId="urn:microsoft.com/office/officeart/2005/8/layout/chevron1"/>
    <dgm:cxn modelId="{79919DF4-A4FF-B44F-8711-060CAF543C65}" type="presParOf" srcId="{1DB3B44C-7467-AE4D-9230-CD12A1D6E611}" destId="{D3155EBB-4AB3-9044-830F-968F5A0CCC14}" srcOrd="18" destOrd="0" presId="urn:microsoft.com/office/officeart/2005/8/layout/chevron1"/>
    <dgm:cxn modelId="{16983F47-3041-B948-AC2F-3869B7A5B58D}" type="presParOf" srcId="{1DB3B44C-7467-AE4D-9230-CD12A1D6E611}" destId="{CEF6C9BE-8CFB-D54A-93BE-C057CA6624BF}" srcOrd="19" destOrd="0" presId="urn:microsoft.com/office/officeart/2005/8/layout/chevron1"/>
    <dgm:cxn modelId="{B3223BA9-6082-5346-9DA7-600EA8C9932C}" type="presParOf" srcId="{1DB3B44C-7467-AE4D-9230-CD12A1D6E611}" destId="{ED23E062-CC08-4E42-B04F-F2F15BDA8DA9}" srcOrd="20" destOrd="0" presId="urn:microsoft.com/office/officeart/2005/8/layout/chevron1"/>
    <dgm:cxn modelId="{FC0C3235-02B1-2D41-A6B2-5928096E2B9B}" type="presParOf" srcId="{1DB3B44C-7467-AE4D-9230-CD12A1D6E611}" destId="{334AA6BA-E7C9-1A4D-A50C-3F7B80422562}" srcOrd="21" destOrd="0" presId="urn:microsoft.com/office/officeart/2005/8/layout/chevron1"/>
    <dgm:cxn modelId="{5B877B3C-22D5-5D44-A547-37B17CBDFEAE}" type="presParOf" srcId="{1DB3B44C-7467-AE4D-9230-CD12A1D6E611}" destId="{14380ECD-5DE7-9B4E-B007-8EC6BE6A58F0}" srcOrd="2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4370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219586" y="496395"/>
        <a:ext cx="645648" cy="430431"/>
      </dsp:txXfrm>
    </dsp:sp>
    <dsp:sp modelId="{B1BA47BC-0F0D-FA45-9AD4-0D38494B05F4}">
      <dsp:nvSpPr>
        <dsp:cNvPr id="0" name=""/>
        <dsp:cNvSpPr/>
      </dsp:nvSpPr>
      <dsp:spPr>
        <a:xfrm>
          <a:off x="972841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Assessment</a:t>
          </a:r>
        </a:p>
      </dsp:txBody>
      <dsp:txXfrm>
        <a:off x="1188057" y="496395"/>
        <a:ext cx="645648" cy="430431"/>
      </dsp:txXfrm>
    </dsp:sp>
    <dsp:sp modelId="{0E438F55-0AD6-A94F-9469-2CA709F3A391}">
      <dsp:nvSpPr>
        <dsp:cNvPr id="0" name=""/>
        <dsp:cNvSpPr/>
      </dsp:nvSpPr>
      <dsp:spPr>
        <a:xfrm>
          <a:off x="1941313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SRD</a:t>
          </a:r>
        </a:p>
      </dsp:txBody>
      <dsp:txXfrm>
        <a:off x="2156529" y="496395"/>
        <a:ext cx="645648" cy="430431"/>
      </dsp:txXfrm>
    </dsp:sp>
    <dsp:sp modelId="{3BA502E2-CAA2-EC45-90DB-2360A508B246}">
      <dsp:nvSpPr>
        <dsp:cNvPr id="0" name=""/>
        <dsp:cNvSpPr/>
      </dsp:nvSpPr>
      <dsp:spPr>
        <a:xfrm>
          <a:off x="2909785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Network Design</a:t>
          </a:r>
        </a:p>
      </dsp:txBody>
      <dsp:txXfrm>
        <a:off x="3125001" y="496395"/>
        <a:ext cx="645648" cy="430431"/>
      </dsp:txXfrm>
    </dsp:sp>
    <dsp:sp modelId="{7AD32CBD-7A4D-BA44-9643-D249691B5889}">
      <dsp:nvSpPr>
        <dsp:cNvPr id="0" name=""/>
        <dsp:cNvSpPr/>
      </dsp:nvSpPr>
      <dsp:spPr>
        <a:xfrm>
          <a:off x="3878256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SDD</a:t>
          </a:r>
        </a:p>
      </dsp:txBody>
      <dsp:txXfrm>
        <a:off x="4093472" y="496395"/>
        <a:ext cx="645648" cy="430431"/>
      </dsp:txXfrm>
    </dsp:sp>
    <dsp:sp modelId="{FBC20F8B-CB96-5A41-A1C4-D3AEA594FF49}">
      <dsp:nvSpPr>
        <dsp:cNvPr id="0" name=""/>
        <dsp:cNvSpPr/>
      </dsp:nvSpPr>
      <dsp:spPr>
        <a:xfrm>
          <a:off x="4846728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Migration Strategy</a:t>
          </a:r>
        </a:p>
      </dsp:txBody>
      <dsp:txXfrm>
        <a:off x="5061944" y="496395"/>
        <a:ext cx="645648" cy="430431"/>
      </dsp:txXfrm>
    </dsp:sp>
    <dsp:sp modelId="{249B4738-EDE4-ED4B-A309-6878AAF0261C}">
      <dsp:nvSpPr>
        <dsp:cNvPr id="0" name=""/>
        <dsp:cNvSpPr/>
      </dsp:nvSpPr>
      <dsp:spPr>
        <a:xfrm>
          <a:off x="5815200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 Plans</a:t>
          </a:r>
        </a:p>
      </dsp:txBody>
      <dsp:txXfrm>
        <a:off x="6030416" y="496395"/>
        <a:ext cx="645648" cy="430431"/>
      </dsp:txXfrm>
    </dsp:sp>
    <dsp:sp modelId="{7FC1DEBC-F4F9-854F-9E20-0C57932D8052}">
      <dsp:nvSpPr>
        <dsp:cNvPr id="0" name=""/>
        <dsp:cNvSpPr/>
      </dsp:nvSpPr>
      <dsp:spPr>
        <a:xfrm>
          <a:off x="6783671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Plans</a:t>
          </a:r>
        </a:p>
      </dsp:txBody>
      <dsp:txXfrm>
        <a:off x="6998887" y="496395"/>
        <a:ext cx="645648" cy="430431"/>
      </dsp:txXfrm>
    </dsp:sp>
    <dsp:sp modelId="{B58CF005-4B43-404F-A643-1100E2CF81FF}">
      <dsp:nvSpPr>
        <dsp:cNvPr id="0" name=""/>
        <dsp:cNvSpPr/>
      </dsp:nvSpPr>
      <dsp:spPr>
        <a:xfrm>
          <a:off x="7752143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Cases</a:t>
          </a:r>
        </a:p>
      </dsp:txBody>
      <dsp:txXfrm>
        <a:off x="7967359" y="496395"/>
        <a:ext cx="645648" cy="430431"/>
      </dsp:txXfrm>
    </dsp:sp>
    <dsp:sp modelId="{D3155EBB-4AB3-9044-830F-968F5A0CCC14}">
      <dsp:nvSpPr>
        <dsp:cNvPr id="0" name=""/>
        <dsp:cNvSpPr/>
      </dsp:nvSpPr>
      <dsp:spPr>
        <a:xfrm>
          <a:off x="8720614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</a:t>
          </a:r>
        </a:p>
      </dsp:txBody>
      <dsp:txXfrm>
        <a:off x="8935830" y="496395"/>
        <a:ext cx="645648" cy="430431"/>
      </dsp:txXfrm>
    </dsp:sp>
    <dsp:sp modelId="{ED23E062-CC08-4E42-B04F-F2F15BDA8DA9}">
      <dsp:nvSpPr>
        <dsp:cNvPr id="0" name=""/>
        <dsp:cNvSpPr/>
      </dsp:nvSpPr>
      <dsp:spPr>
        <a:xfrm>
          <a:off x="9689086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Testing</a:t>
          </a:r>
        </a:p>
      </dsp:txBody>
      <dsp:txXfrm>
        <a:off x="9904302" y="496395"/>
        <a:ext cx="645648" cy="430431"/>
      </dsp:txXfrm>
    </dsp:sp>
    <dsp:sp modelId="{14380ECD-5DE7-9B4E-B007-8EC6BE6A58F0}">
      <dsp:nvSpPr>
        <dsp:cNvPr id="0" name=""/>
        <dsp:cNvSpPr/>
      </dsp:nvSpPr>
      <dsp:spPr>
        <a:xfrm>
          <a:off x="10657558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Reports</a:t>
          </a:r>
        </a:p>
      </dsp:txBody>
      <dsp:txXfrm>
        <a:off x="10872774" y="496395"/>
        <a:ext cx="645648" cy="430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539094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539094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539094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539094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539094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539094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539094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539094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539094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539094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539094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539094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539094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539094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539094"/>
        <a:ext cx="517550" cy="345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453695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453695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453695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453695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453695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453695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453695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453695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453695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453695"/>
        <a:ext cx="773746" cy="5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452992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452992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452992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452992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452992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452992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452992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452992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452992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452992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452992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452992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452992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452992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452992"/>
        <a:ext cx="517550" cy="345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367594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367594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367594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367594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367594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367594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367594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367594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367594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367594"/>
        <a:ext cx="773746" cy="515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Relationship Id="rId5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7" Type="http://schemas.openxmlformats.org/officeDocument/2006/relationships/diagramData" Target="../diagrams/data5.xml"/><Relationship Id="rId8" Type="http://schemas.openxmlformats.org/officeDocument/2006/relationships/diagramLayout" Target="../diagrams/layout5.xml"/><Relationship Id="rId9" Type="http://schemas.openxmlformats.org/officeDocument/2006/relationships/diagramQuickStyle" Target="../diagrams/quickStyle5.xml"/><Relationship Id="rId10" Type="http://schemas.openxmlformats.org/officeDocument/2006/relationships/diagramColors" Target="../diagrams/colors5.xml"/><Relationship Id="rId11" Type="http://schemas.microsoft.com/office/2007/relationships/diagramDrawing" Target="../diagrams/drawing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B269-0780-BBDC-8B95-B7B471A4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SaC</a:t>
            </a:r>
            <a:r>
              <a:rPr lang="en-US" dirty="0"/>
              <a:t> / </a:t>
            </a:r>
            <a:r>
              <a:rPr lang="en-US" dirty="0" err="1"/>
              <a:t>NaC</a:t>
            </a:r>
            <a:r>
              <a:rPr lang="en-US" dirty="0"/>
              <a:t> Adoption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78F90-0146-F3C2-7035-94505F2D2A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Dhrumil Prajapati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1B8B52-5AB5-1BA6-8AA9-5F59C5E658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40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CE4-8BDB-A618-4655-CA53FAB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47F0-5CFF-DC74-4562-0F66D058C3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Phase 1:</a:t>
            </a:r>
          </a:p>
          <a:p>
            <a:pPr lvl="1"/>
            <a:r>
              <a:rPr lang="en-US" dirty="0" err="1"/>
              <a:t>NaC</a:t>
            </a:r>
            <a:r>
              <a:rPr lang="en-US" dirty="0"/>
              <a:t> Parity collection pilot for SDWAN and Cat-C – Target </a:t>
            </a:r>
            <a:r>
              <a:rPr lang="en-US" dirty="0" err="1"/>
              <a:t>EoM</a:t>
            </a:r>
            <a:r>
              <a:rPr lang="en-US" dirty="0"/>
              <a:t> March 2026</a:t>
            </a:r>
          </a:p>
          <a:p>
            <a:r>
              <a:rPr lang="en-US" dirty="0"/>
              <a:t>Phase 2:</a:t>
            </a:r>
          </a:p>
          <a:p>
            <a:pPr lvl="1"/>
            <a:r>
              <a:rPr lang="en-US" dirty="0"/>
              <a:t>Engage with customers who are scoring more than 80%** parity (Final data TBD)</a:t>
            </a:r>
          </a:p>
          <a:p>
            <a:r>
              <a:rPr lang="en-US" dirty="0"/>
              <a:t>Phase 3:</a:t>
            </a:r>
          </a:p>
          <a:p>
            <a:pPr lvl="1"/>
            <a:r>
              <a:rPr lang="en-US" dirty="0"/>
              <a:t>Staffing arrangement and agreement on timelines and success criteria</a:t>
            </a:r>
          </a:p>
          <a:p>
            <a:r>
              <a:rPr lang="en-US" dirty="0"/>
              <a:t>Phase 4 (If Applicable):</a:t>
            </a:r>
          </a:p>
          <a:p>
            <a:pPr lvl="1"/>
            <a:r>
              <a:rPr lang="en-US" dirty="0"/>
              <a:t>If applicable – Train LCS/BCS team and CMS team where applicable for maintain customer environment</a:t>
            </a:r>
          </a:p>
        </p:txBody>
      </p:sp>
    </p:spTree>
    <p:extLst>
      <p:ext uri="{BB962C8B-B14F-4D97-AF65-F5344CB8AC3E}">
        <p14:creationId xmlns:p14="http://schemas.microsoft.com/office/powerpoint/2010/main" val="7763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AAA7-52BD-DD3D-8D56-1C7417F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</a:t>
            </a:r>
            <a:r>
              <a:rPr lang="en-US" dirty="0" err="1"/>
              <a:t>NaC</a:t>
            </a:r>
            <a:r>
              <a:rPr lang="en-US" dirty="0"/>
              <a:t>-Parity – SDWAN and Cat-C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CBA11-846C-8298-A14F-18C1539F36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EN team to conduct an exercise to have all engineers run </a:t>
            </a:r>
            <a:r>
              <a:rPr lang="en-US" dirty="0" err="1"/>
              <a:t>NaC</a:t>
            </a:r>
            <a:r>
              <a:rPr lang="en-US" dirty="0"/>
              <a:t>-Parity tool SDWAN and Cat-C</a:t>
            </a:r>
          </a:p>
          <a:p>
            <a:pPr lvl="1"/>
            <a:r>
              <a:rPr lang="en-US" dirty="0"/>
              <a:t>Target:</a:t>
            </a:r>
          </a:p>
          <a:p>
            <a:pPr lvl="2"/>
            <a:r>
              <a:rPr lang="en-US" dirty="0"/>
              <a:t>Any/all customers that our team actively supports on a PID as part of PDI or Day-2</a:t>
            </a:r>
          </a:p>
          <a:p>
            <a:pPr lvl="1"/>
            <a:r>
              <a:rPr lang="en-US" dirty="0"/>
              <a:t>Purpose:</a:t>
            </a:r>
          </a:p>
          <a:p>
            <a:pPr lvl="2"/>
            <a:r>
              <a:rPr lang="en-US" dirty="0"/>
              <a:t>Build a database of all GES-Arch supported customers with feature parity list for SDWAN and Cat-C.</a:t>
            </a:r>
          </a:p>
          <a:p>
            <a:pPr lvl="2"/>
            <a:r>
              <a:rPr lang="en-US" dirty="0"/>
              <a:t>Build a priority list of what customers can be targeted for conversation with help of theater CDAs, SDAs</a:t>
            </a:r>
          </a:p>
          <a:p>
            <a:pPr lvl="2"/>
            <a:r>
              <a:rPr lang="en-US" dirty="0"/>
              <a:t>Work with theater Leaders to create a pipeline of customers with target date for Go/No-Go decision</a:t>
            </a:r>
          </a:p>
          <a:p>
            <a:pPr lvl="2"/>
            <a:r>
              <a:rPr lang="en-US" dirty="0"/>
              <a:t>Establish success criteria for the outcome for customers in “Go” list</a:t>
            </a:r>
          </a:p>
          <a:p>
            <a:r>
              <a:rPr lang="en-US" dirty="0"/>
              <a:t>This will help us lean on low-hanging customer opportunities and build learnings from the deployment</a:t>
            </a:r>
          </a:p>
        </p:txBody>
      </p:sp>
    </p:spTree>
    <p:extLst>
      <p:ext uri="{BB962C8B-B14F-4D97-AF65-F5344CB8AC3E}">
        <p14:creationId xmlns:p14="http://schemas.microsoft.com/office/powerpoint/2010/main" val="1280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2B08-CC38-9A35-9460-E7CB24C8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6B3A-B898-AF5B-FE78-78993D2C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Engage and Strategize with customers - &gt;80%**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9531-898A-5CD4-E9FA-0DE3DDD0DE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Current baseline threshold – 80%** of feature parity (pending collection of data)</a:t>
            </a:r>
          </a:p>
          <a:p>
            <a:r>
              <a:rPr lang="en-US" dirty="0"/>
              <a:t>Any customers who are 80% or above in feature parity are candidate for conversation to use as-code methodology for their existing projects/PIDs</a:t>
            </a:r>
          </a:p>
          <a:p>
            <a:pPr lvl="1"/>
            <a:r>
              <a:rPr lang="en-US" dirty="0"/>
              <a:t>The conversations will begin with 50K foot view about as-code and will be more detailed as customer is familiar with it.</a:t>
            </a:r>
          </a:p>
          <a:p>
            <a:pPr lvl="1"/>
            <a:r>
              <a:rPr lang="en-US" dirty="0"/>
              <a:t>The Engineer on the account will work with SDA/Service Seller for Sales Motion</a:t>
            </a:r>
          </a:p>
          <a:p>
            <a:pPr lvl="1"/>
            <a:r>
              <a:rPr lang="en-US" dirty="0"/>
              <a:t>Any resistance or concerns of not going with that method will be documented and would require further deliberation</a:t>
            </a:r>
          </a:p>
          <a:p>
            <a:r>
              <a:rPr lang="en-US" dirty="0"/>
              <a:t>Missing features are put in the development pipeline with a timeline of getting them fully tested and built before production rollout.</a:t>
            </a:r>
          </a:p>
          <a:p>
            <a:r>
              <a:rPr lang="en-US" dirty="0"/>
              <a:t>Project plan and RACI are built per architecture</a:t>
            </a:r>
          </a:p>
          <a:p>
            <a:r>
              <a:rPr lang="en-US" dirty="0"/>
              <a:t>Journey map is prepared for the solution adoption</a:t>
            </a:r>
          </a:p>
        </p:txBody>
      </p:sp>
    </p:spTree>
    <p:extLst>
      <p:ext uri="{BB962C8B-B14F-4D97-AF65-F5344CB8AC3E}">
        <p14:creationId xmlns:p14="http://schemas.microsoft.com/office/powerpoint/2010/main" val="43509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B5E8-D1E1-0F81-7C4A-22D9DBD8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545D-8531-B1C4-8430-739C7DAA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Staffing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C2E5-02F8-30B2-236C-85530B7835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Staffing arrangement based on the Sales Motion</a:t>
            </a:r>
          </a:p>
          <a:p>
            <a:pPr lvl="1"/>
            <a:r>
              <a:rPr lang="en-US" dirty="0"/>
              <a:t>Ideally, no change in existing staffing, however, addition of as-code engineer who is trained from our team, to the project for technology support. </a:t>
            </a:r>
          </a:p>
          <a:p>
            <a:pPr lvl="1"/>
            <a:r>
              <a:rPr lang="en-US" dirty="0"/>
              <a:t>Objective will be to train existing architects in parallel to customer transition and build up of initial environment for the deployment</a:t>
            </a:r>
          </a:p>
          <a:p>
            <a:pPr lvl="2"/>
            <a:r>
              <a:rPr lang="en-US" dirty="0"/>
              <a:t>Architects on these accounts are expected to lead with as-code delivery with demo, strategy and end-state architecture</a:t>
            </a:r>
          </a:p>
          <a:p>
            <a:pPr lvl="1"/>
            <a:r>
              <a:rPr lang="en-US" dirty="0"/>
              <a:t>Success criteria is clearly defined for timely disengagement and hand-off of the responsibilities.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2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2D83-3FA6-CB4F-8447-0D2559C7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A1A9-05B2-960F-F4FB-79A7C91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As Applicable – Additional Training/Handoff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FA527-54A8-9354-EF22-483C17920F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Lessons learned from THD Project:</a:t>
            </a:r>
          </a:p>
          <a:p>
            <a:pPr lvl="1"/>
            <a:r>
              <a:rPr lang="en-US" dirty="0"/>
              <a:t>Additional training might be required for CMS and/or BCS/LCS team from CXC to ensure smooth transition and faster disengagement of our as-code architects</a:t>
            </a:r>
          </a:p>
          <a:p>
            <a:pPr lvl="1"/>
            <a:r>
              <a:rPr lang="en-US" dirty="0"/>
              <a:t>Lab guides will be provided OR one dedicated training session will be held for entire team to focus on as-code deployment specific to customer network. </a:t>
            </a:r>
          </a:p>
          <a:p>
            <a:pPr lvl="2"/>
            <a:r>
              <a:rPr lang="en-US" dirty="0"/>
              <a:t>Fundamental </a:t>
            </a:r>
            <a:r>
              <a:rPr lang="en-US" dirty="0" err="1"/>
              <a:t>NaC</a:t>
            </a:r>
            <a:r>
              <a:rPr lang="en-US" dirty="0"/>
              <a:t> training is out of scope and existing training materials can be leveraged.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6892C2-D9A8-8F69-E8C4-CF0B3795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0318343-EAA2-8305-5306-DF753E473290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781F12-1B48-8A87-9AD7-D0351A87B13B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6A51EC9-3B70-A67C-5563-EEA9576F21AE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2B89016C-8B95-4E23-925F-1AE50957CF1F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23494ABC-7474-B252-099A-1D5720E72BA6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6130A-C82E-42A2-290C-FBA729816600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</p:spTree>
    <p:extLst>
      <p:ext uri="{BB962C8B-B14F-4D97-AF65-F5344CB8AC3E}">
        <p14:creationId xmlns:p14="http://schemas.microsoft.com/office/powerpoint/2010/main" val="132949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AA9-4234-FB5E-90D1-66D4FF90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F4E94-072A-F4D7-EF0A-97A020A1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BF2C3A-B0A7-EC8E-DCD6-F511E3A8D1B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D719B2-8C00-72A1-CDFF-E32EF4D9996D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EFC5D8B-EB0E-7B3C-D900-3DA892389042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E7B5F45B-0E77-F5E6-46CF-9DEA0713F79C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3D7714E9-E3F6-4D59-4EB3-7F1974A544DD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B86E5-FFDE-01DE-77CB-70A74E3EB037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C32CB-0C22-0300-399E-65A08465A922}"/>
              </a:ext>
            </a:extLst>
          </p:cNvPr>
          <p:cNvSpPr/>
          <p:nvPr/>
        </p:nvSpPr>
        <p:spPr>
          <a:xfrm>
            <a:off x="980343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A9776-5070-A663-8964-D8988F0C7A2E}"/>
              </a:ext>
            </a:extLst>
          </p:cNvPr>
          <p:cNvSpPr/>
          <p:nvPr/>
        </p:nvSpPr>
        <p:spPr>
          <a:xfrm>
            <a:off x="3269274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F776A-BCFC-4D97-D4FC-30EDED744A62}"/>
              </a:ext>
            </a:extLst>
          </p:cNvPr>
          <p:cNvSpPr/>
          <p:nvPr/>
        </p:nvSpPr>
        <p:spPr>
          <a:xfrm>
            <a:off x="7932128" y="2008434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85DF8-67A8-043F-B507-1F83CB3436CA}"/>
              </a:ext>
            </a:extLst>
          </p:cNvPr>
          <p:cNvSpPr txBox="1"/>
          <p:nvPr/>
        </p:nvSpPr>
        <p:spPr>
          <a:xfrm>
            <a:off x="4494267" y="1059473"/>
            <a:ext cx="3374847" cy="3516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New Additions to our Methodology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8ADF0-0D4B-E580-F3F8-28F46FDB0265}"/>
              </a:ext>
            </a:extLst>
          </p:cNvPr>
          <p:cNvCxnSpPr/>
          <p:nvPr/>
        </p:nvCxnSpPr>
        <p:spPr>
          <a:xfrm flipH="1">
            <a:off x="1771650" y="1327638"/>
            <a:ext cx="2980592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7E52A0-A20F-B10D-8761-43C375A40502}"/>
              </a:ext>
            </a:extLst>
          </p:cNvPr>
          <p:cNvCxnSpPr>
            <a:cxnSpLocks/>
          </p:cNvCxnSpPr>
          <p:nvPr/>
        </p:nvCxnSpPr>
        <p:spPr>
          <a:xfrm flipH="1">
            <a:off x="4004896" y="1339300"/>
            <a:ext cx="975946" cy="60819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F6A6E-7D40-352F-DAF5-4E7197000B47}"/>
              </a:ext>
            </a:extLst>
          </p:cNvPr>
          <p:cNvCxnSpPr>
            <a:cxnSpLocks/>
          </p:cNvCxnSpPr>
          <p:nvPr/>
        </p:nvCxnSpPr>
        <p:spPr>
          <a:xfrm>
            <a:off x="6082812" y="1327638"/>
            <a:ext cx="2275673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1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E7BE-E7A4-3B72-969B-BB60AC6D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9401E-493B-A8F7-CFFC-9EA8FEC9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</a:t>
            </a:r>
            <a:r>
              <a:rPr lang="en-US" dirty="0" err="1"/>
              <a:t>NaC</a:t>
            </a:r>
            <a:r>
              <a:rPr lang="en-US" dirty="0"/>
              <a:t> Feature Development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D84141A-76D2-75B0-264D-6E45275DF7F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FA06CF-86B0-BAA2-4C0C-2F6A107213B4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2991CB66-BB9D-7415-248E-CD7230F586B6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rgbClr val="C0000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High Time (~1-2 weeks)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339A8CE6-96B6-8DF0-BF6F-1B5DBBE66E23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Medium Time (~3-5 days)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EFE7DEA2-1A72-EA19-7E1C-4449AD9605D8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Low Time (~1 day)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6F8589-741C-3A0E-CC7D-2EF9CC377099}"/>
              </a:ext>
            </a:extLst>
          </p:cNvPr>
          <p:cNvSpPr txBox="1"/>
          <p:nvPr/>
        </p:nvSpPr>
        <p:spPr>
          <a:xfrm>
            <a:off x="226193" y="5849007"/>
            <a:ext cx="9177518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Rough estimates based on patterns noted with IOS-XE, SDWAN as Code feature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77122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8840-1978-83F3-4812-40A0507D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23AB0-5305-EE33-840D-83AC87D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Grand Schema of Things – What do we prioritize?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0AF22B-0867-BACF-2F06-76934D8F9C9F}"/>
              </a:ext>
            </a:extLst>
          </p:cNvPr>
          <p:cNvGraphicFramePr/>
          <p:nvPr/>
        </p:nvGraphicFramePr>
        <p:xfrm>
          <a:off x="323850" y="614855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FB78D0-C501-32A4-7B19-FC6D43270CDE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E44BB0-F47F-8B90-9CCF-73093B7F78D7}"/>
              </a:ext>
            </a:extLst>
          </p:cNvPr>
          <p:cNvGraphicFramePr/>
          <p:nvPr/>
        </p:nvGraphicFramePr>
        <p:xfrm>
          <a:off x="226996" y="2310347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97E8E-C537-A057-27D2-45236281CC76}"/>
              </a:ext>
            </a:extLst>
          </p:cNvPr>
          <p:cNvGrpSpPr/>
          <p:nvPr/>
        </p:nvGrpSpPr>
        <p:grpSpPr>
          <a:xfrm>
            <a:off x="226194" y="1481221"/>
            <a:ext cx="11738811" cy="1014056"/>
            <a:chOff x="226194" y="1481221"/>
            <a:chExt cx="11738811" cy="1014056"/>
          </a:xfr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lin ang="5400000" scaled="0"/>
          </a:gradFill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482EF630-5486-153C-0512-3F8A25F5853F}"/>
                </a:ext>
              </a:extLst>
            </p:cNvPr>
            <p:cNvSpPr/>
            <p:nvPr/>
          </p:nvSpPr>
          <p:spPr>
            <a:xfrm>
              <a:off x="3743159" y="1481221"/>
              <a:ext cx="8221846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D8260BBA-51DE-1EE0-F226-7E2EF83294AD}"/>
                </a:ext>
              </a:extLst>
            </p:cNvPr>
            <p:cNvSpPr/>
            <p:nvPr/>
          </p:nvSpPr>
          <p:spPr>
            <a:xfrm flipH="1">
              <a:off x="226194" y="1481221"/>
              <a:ext cx="3516964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75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Phase 2 criteria → customers (SD-WAN &amp; Cat-C/SDA)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Following slides: one per criterion from the Phase 2 readiness summary.</a:t>
            </a:r>
          </a:p>
          <a:p>
            <a:pPr>
              <a:defRPr sz="1100"/>
            </a:pPr>
            <a:r>
              <a:t>Each slide lists Customer Name values, split into SD-WAN vs Cat-C/SDA blocks.</a:t>
            </a:r>
          </a:p>
          <a:p>
            <a:pPr>
              <a:defRPr sz="1100"/>
            </a:pPr>
            <a:r>
              <a:t>80% parity is an interim gate until the business locks the final baseline.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Confirmed rules (leadership inputs)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Lists are split by technology: SD-WAN vs Cat-C/SDA on each customer slide.</a:t>
            </a:r>
          </a:p>
          <a:p>
            <a:pPr>
              <a:defRPr sz="1100"/>
            </a:pPr>
            <a:r>
              <a:t>Grain is Customer Name as it appears in the readiness workbook (no PID column).</a:t>
            </a:r>
          </a:p>
          <a:p>
            <a:pPr>
              <a:defRPr sz="1100"/>
            </a:pPr>
            <a:r>
              <a:t>80% NaC Parity % (≥0.80 in-sheet) remains the interim gate until a final baseline is published.</a:t>
            </a:r>
          </a:p>
          <a:p>
            <a:pPr>
              <a:defRPr sz="1100"/>
            </a:pPr>
            <a:r>
              <a:t>≥80% motion / RACI slides include only interim-gate customers. &gt;0% and &lt;80% accounts are on a separate interim-pipeline slide.</a:t>
            </a:r>
          </a:p>
          <a:p>
            <a:pPr>
              <a:defRPr sz="1100"/>
            </a:pPr>
            <a:r>
              <a:t>Source workbook: SaC-NaC Readiness Checklist v1_merged.xlsx · generated 2026-04-16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engagement process (Phase 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1. Prioritize — Confirm interim ≥80% gate candidates with theater CDA / segment leads.</a:t>
            </a:r>
          </a:p>
          <a:p>
            <a:pPr>
              <a:defRPr sz="1100"/>
            </a:pPr>
            <a:r>
              <a:t>2. Align — Match engineer + SDA / service seller; agree account entry criteria.</a:t>
            </a:r>
          </a:p>
          <a:p>
            <a:pPr>
              <a:defRPr sz="1100"/>
            </a:pPr>
            <a:r>
              <a:t>3. Discover — Start 50K-ft as-code positioning; capture risks, dependencies, timelines.</a:t>
            </a:r>
          </a:p>
          <a:p>
            <a:pPr>
              <a:defRPr sz="1100"/>
            </a:pPr>
            <a:r>
              <a:t>4. Deepen — Technical and delivery detail as customer familiarity grows.</a:t>
            </a:r>
          </a:p>
          <a:p>
            <a:pPr>
              <a:defRPr sz="1100"/>
            </a:pPr>
            <a:r>
              <a:t>5. Document — Record resistance / alternatives; log missing features and test gates.</a:t>
            </a:r>
          </a:p>
          <a:p>
            <a:pPr>
              <a:defRPr sz="1100"/>
            </a:pPr>
            <a:r>
              <a:t>6. Plan — RACI per architecture; journey map for adoption; dev pipeline for gaps.</a:t>
            </a:r>
          </a:p>
          <a:p>
            <a:pPr>
              <a:defRPr sz="1100"/>
            </a:pPr>
            <a:r>
              <a:t>7. Gate — Go/No-Go on as-code path; refresh parity metrics before scale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Phase 2 adoption intent (plan)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Adoption plan (Phase 2): engage and strategize with customers at ~80%+ NaC feature parity; final % TBD per strategy deck ().</a:t>
            </a:r>
          </a:p>
          <a:p>
            <a:pPr>
              <a:defRPr sz="1100"/>
            </a:pPr>
            <a:r>
              <a:t>SD-WAN (51)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Autozone</a:t>
            </a:r>
          </a:p>
          <a:p>
            <a:pPr lvl="1">
              <a:defRPr sz="1100"/>
            </a:pPr>
            <a:r>
              <a:t>Bank of America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CVS Pharmacy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DTCC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Exepdia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Fannie Mae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FISERV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ICE -DHS (Department of Homeland Security)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+ 13 more (see workbook)</a:t>
            </a:r>
          </a:p>
          <a:p>
            <a:pPr>
              <a:defRPr sz="1100"/>
            </a:pPr>
            <a:r>
              <a:t>Cat-C/SDA (47)</a:t>
            </a:r>
          </a:p>
          <a:p>
            <a:pPr lvl="1">
              <a:defRPr sz="1100"/>
            </a:pPr>
            <a:r>
              <a:t>3M</a:t>
            </a:r>
          </a:p>
          <a:p>
            <a:pPr lvl="1">
              <a:defRPr sz="1100"/>
            </a:pPr>
            <a:r>
              <a:t>AAFES</a:t>
            </a:r>
          </a:p>
          <a:p>
            <a:pPr lvl="1">
              <a:defRPr sz="1100"/>
            </a:pPr>
            <a:r>
              <a:t>ADP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Bank Of America, Cedars Sinai</a:t>
            </a:r>
          </a:p>
          <a:p>
            <a:pPr lvl="1">
              <a:defRPr sz="1100"/>
            </a:pPr>
            <a:r>
              <a:t>Blackrock</a:t>
            </a:r>
          </a:p>
          <a:p>
            <a:pPr lvl="1">
              <a:defRPr sz="1100"/>
            </a:pPr>
            <a:r>
              <a:t>BNY</a:t>
            </a:r>
          </a:p>
          <a:p>
            <a:pPr lvl="1">
              <a:defRPr sz="1100"/>
            </a:pPr>
            <a:r>
              <a:t>Boeing</a:t>
            </a:r>
          </a:p>
          <a:p>
            <a:pPr lvl="1">
              <a:defRPr sz="1100"/>
            </a:pPr>
            <a:r>
              <a:t>Carnival Cruises</a:t>
            </a:r>
          </a:p>
          <a:p>
            <a:pPr lvl="1">
              <a:defRPr sz="1100"/>
            </a:pPr>
            <a:r>
              <a:t>Charles Schwab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</a:t>
            </a:r>
          </a:p>
          <a:p>
            <a:pPr lvl="1">
              <a:defRPr sz="1100"/>
            </a:pPr>
            <a:r>
              <a:t>CVS Pharmacy - TLM</a:t>
            </a:r>
          </a:p>
          <a:p>
            <a:pPr lvl="1">
              <a:defRPr sz="1100"/>
            </a:pPr>
            <a:r>
              <a:t>DELTA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Merck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MGB SVS Lab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NYULH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+ 9 more (see workbook)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Parity % coverage (scoped rows)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Readiness view: count of SD-WAN + Cat-C/SDA rows with a numeric NaC Parity % vs total scoped rows. Customers listed = any scoped customer with ≥1 row where NaC Parity % is numeric.</a:t>
            </a:r>
          </a:p>
          <a:p>
            <a:pPr>
              <a:defRPr sz="1100"/>
            </a:pPr>
            <a:r>
              <a:t>SD-WAN (26)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Cat-C/SDA (26)</a:t>
            </a:r>
          </a:p>
          <a:p>
            <a:pPr lvl="1">
              <a:defRPr sz="1100"/>
            </a:pPr>
            <a:r>
              <a:t>3M</a:t>
            </a:r>
          </a:p>
          <a:p>
            <a:pPr lvl="1">
              <a:defRPr sz="1100"/>
            </a:pPr>
            <a:r>
              <a:t>AAFES</a:t>
            </a:r>
          </a:p>
          <a:p>
            <a:pPr lvl="1">
              <a:defRPr sz="1100"/>
            </a:pPr>
            <a:r>
              <a:t>ADP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Blackrock</a:t>
            </a:r>
          </a:p>
          <a:p>
            <a:pPr lvl="1">
              <a:defRPr sz="1100"/>
            </a:pPr>
            <a:r>
              <a:t>Carnival Cruises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MGB SVS Lab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NYULH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Southern California Edison</a:t>
            </a:r>
          </a:p>
          <a:p>
            <a:pPr lvl="1">
              <a:defRPr sz="1100"/>
            </a:pPr>
            <a:r>
              <a:t>Tepper Sports &amp; Entertainment</a:t>
            </a:r>
          </a:p>
          <a:p>
            <a:pPr lvl="1">
              <a:defRPr sz="1100"/>
            </a:pPr>
            <a:r>
              <a:t>TIAA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Wells Fargo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At/above 80% parity (Phase 2 candidate rows)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NaC Parity % ≥ 80% on at least one SD-WAN or Cat-C/SDA row. Customers listed = unique names meeting that max-row threshold.</a:t>
            </a:r>
          </a:p>
          <a:p>
            <a:pPr>
              <a:defRPr sz="1100"/>
            </a:pPr>
            <a:r>
              <a:t>SD-WAN (20)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Cat-C/SDA (5)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Below 80% best parity (but has numeric %)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Customer’s best (max) NaC Parity % across scoped rows is &lt;80%, while at least one scoped row has a numeric %. Prioritize parity uplift / access / gating.</a:t>
            </a:r>
          </a:p>
          <a:p>
            <a:pPr>
              <a:defRPr sz="1100"/>
            </a:pPr>
            <a:r>
              <a:t>SD-WAN (6)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Truist</a:t>
            </a:r>
          </a:p>
          <a:p>
            <a:pPr>
              <a:defRPr sz="1100"/>
            </a:pPr>
            <a:r>
              <a:t>Cat-C/SDA (20)</a:t>
            </a:r>
          </a:p>
          <a:p>
            <a:pPr lvl="1">
              <a:defRPr sz="1100"/>
            </a:pPr>
            <a:r>
              <a:t>3M</a:t>
            </a:r>
          </a:p>
          <a:p>
            <a:pPr lvl="1">
              <a:defRPr sz="1100"/>
            </a:pPr>
            <a:r>
              <a:t>AAFES</a:t>
            </a:r>
          </a:p>
          <a:p>
            <a:pPr lvl="1">
              <a:defRPr sz="1100"/>
            </a:pPr>
            <a:r>
              <a:t>ADP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Blackrock</a:t>
            </a:r>
          </a:p>
          <a:p>
            <a:pPr lvl="1">
              <a:defRPr sz="1100"/>
            </a:pPr>
            <a:r>
              <a:t>Carnival Cruises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Fidelity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SVS Lab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NYULH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Southern California Edison</a:t>
            </a:r>
          </a:p>
          <a:p>
            <a:pPr lvl="1">
              <a:defRPr sz="1100"/>
            </a:pPr>
            <a:r>
              <a:t>TIAA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Wells Fargo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Missing numeric parity % (any scoped row)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Customer has ≥1 SD-WAN or Cat-C/SDA row without a numeric NaC Parity %. Parity exercise / access / parsing still needed.</a:t>
            </a:r>
          </a:p>
          <a:p>
            <a:pPr>
              <a:defRPr sz="1100"/>
            </a:pPr>
            <a:r>
              <a:t>SD-WAN (25)</a:t>
            </a:r>
          </a:p>
          <a:p>
            <a:pPr lvl="1">
              <a:defRPr sz="1100"/>
            </a:pPr>
            <a:r>
              <a:t>Autozone</a:t>
            </a:r>
          </a:p>
          <a:p>
            <a:pPr lvl="1">
              <a:defRPr sz="1100"/>
            </a:pPr>
            <a:r>
              <a:t>Bank of America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CVS Pharmacy</a:t>
            </a:r>
          </a:p>
          <a:p>
            <a:pPr lvl="1">
              <a:defRPr sz="1100"/>
            </a:pPr>
            <a:r>
              <a:t>DTCC</a:t>
            </a:r>
          </a:p>
          <a:p>
            <a:pPr lvl="1">
              <a:defRPr sz="1100"/>
            </a:pPr>
            <a:r>
              <a:t>Exepdia</a:t>
            </a:r>
          </a:p>
          <a:p>
            <a:pPr lvl="1">
              <a:defRPr sz="1100"/>
            </a:pPr>
            <a:r>
              <a:t>Fannie Mae</a:t>
            </a:r>
          </a:p>
          <a:p>
            <a:pPr lvl="1">
              <a:defRPr sz="1100"/>
            </a:pPr>
            <a:r>
              <a:t>FISERV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ICE -DHS (Department of Homeland Security)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NFCU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Pacific Gas and Electric</a:t>
            </a:r>
          </a:p>
          <a:p>
            <a:pPr lvl="1">
              <a:defRPr sz="1100"/>
            </a:pPr>
            <a:r>
              <a:t>Pfizer</a:t>
            </a:r>
          </a:p>
          <a:p>
            <a:pPr lvl="1">
              <a:defRPr sz="1100"/>
            </a:pPr>
            <a:r>
              <a:t>PNC Bank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TransUnion</a:t>
            </a:r>
          </a:p>
          <a:p>
            <a:pPr lvl="1">
              <a:defRPr sz="1100"/>
            </a:pPr>
            <a:r>
              <a:t>UMMS</a:t>
            </a:r>
          </a:p>
          <a:p>
            <a:pPr>
              <a:defRPr sz="1100"/>
            </a:pPr>
            <a:r>
              <a:t>Cat-C/SDA (21)</a:t>
            </a:r>
          </a:p>
          <a:p>
            <a:pPr lvl="1">
              <a:defRPr sz="1100"/>
            </a:pPr>
            <a:r>
              <a:t>Bank Of America, Cedars Sinai</a:t>
            </a:r>
          </a:p>
          <a:p>
            <a:pPr lvl="1">
              <a:defRPr sz="1100"/>
            </a:pPr>
            <a:r>
              <a:t>BNY</a:t>
            </a:r>
          </a:p>
          <a:p>
            <a:pPr lvl="1">
              <a:defRPr sz="1100"/>
            </a:pPr>
            <a:r>
              <a:t>Boeing</a:t>
            </a:r>
          </a:p>
          <a:p>
            <a:pPr lvl="1">
              <a:defRPr sz="1100"/>
            </a:pPr>
            <a:r>
              <a:t>Charles Schwab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</a:t>
            </a:r>
          </a:p>
          <a:p>
            <a:pPr lvl="1">
              <a:defRPr sz="1100"/>
            </a:pPr>
            <a:r>
              <a:t>CVS Pharmacy - TLM</a:t>
            </a:r>
          </a:p>
          <a:p>
            <a:pPr lvl="1">
              <a:defRPr sz="1100"/>
            </a:pPr>
            <a:r>
              <a:t>DELTA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Merck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Southern Cal Edison</a:t>
            </a:r>
          </a:p>
          <a:p>
            <a:pPr lvl="1">
              <a:defRPr sz="1100"/>
            </a:pPr>
            <a:r>
              <a:t>State Street bank</a:t>
            </a:r>
          </a:p>
          <a:p>
            <a:pPr lvl="1">
              <a:defRPr sz="1100"/>
            </a:pPr>
            <a:r>
              <a:t>Takeda</a:t>
            </a:r>
          </a:p>
          <a:p>
            <a:pPr lvl="1">
              <a:defRPr sz="1100"/>
            </a:pPr>
            <a:r>
              <a:t>UMMS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Any % vs ≥80% (single composite bullet)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Original slide combined: (A) customers with any parseable parity % on scoped rows; (B) customers hitting ≥80% on ≥1 scoped row. Each part lists SD-WAN then Cat-C/SDA.</a:t>
            </a:r>
          </a:p>
          <a:p>
            <a:pPr>
              <a:defRPr sz="1100"/>
            </a:pPr>
            <a:r>
              <a:t>Customers with any numeric % (scoped)</a:t>
            </a:r>
          </a:p>
          <a:p>
            <a:pPr>
              <a:defRPr sz="1100"/>
            </a:pPr>
            <a:r>
              <a:t>  SD-WAN (26)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  Cat-C/SDA (26)</a:t>
            </a:r>
          </a:p>
          <a:p>
            <a:pPr lvl="1">
              <a:defRPr sz="1100"/>
            </a:pPr>
            <a:r>
              <a:t>3M</a:t>
            </a:r>
          </a:p>
          <a:p>
            <a:pPr lvl="1">
              <a:defRPr sz="1100"/>
            </a:pPr>
            <a:r>
              <a:t>AAFES</a:t>
            </a:r>
          </a:p>
          <a:p>
            <a:pPr lvl="1">
              <a:defRPr sz="1100"/>
            </a:pPr>
            <a:r>
              <a:t>ADP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Blackrock</a:t>
            </a:r>
          </a:p>
          <a:p>
            <a:pPr lvl="1">
              <a:defRPr sz="1100"/>
            </a:pPr>
            <a:r>
              <a:t>Carnival Cruises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MGB SVS Lab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NYULH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Southern California Edison</a:t>
            </a:r>
          </a:p>
          <a:p>
            <a:pPr lvl="1">
              <a:defRPr sz="1100"/>
            </a:pPr>
            <a:r>
              <a:t>Tepper Sports &amp; Entertainment</a:t>
            </a:r>
          </a:p>
          <a:p>
            <a:pPr lvl="1">
              <a:defRPr sz="1100"/>
            </a:pPr>
            <a:r>
              <a:t>TIAA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Wells Fargo</a:t>
            </a:r>
          </a:p>
          <a:p>
            <a:pPr>
              <a:defRPr sz="1100"/>
            </a:pPr>
            <a:r>
              <a:t>Customers ≥80% on ≥1 scoped row</a:t>
            </a:r>
          </a:p>
          <a:p>
            <a:pPr>
              <a:defRPr sz="1100"/>
            </a:pPr>
            <a:r>
              <a:t>  SD-WAN (20)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  Cat-C/SDA (5)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Segment mix (≥80% parity rows)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Original summary bullet: segment distribution among ≥80% parity rows. Below: customers grouped by Customer Segment on qualifying rows.</a:t>
            </a:r>
          </a:p>
          <a:p>
            <a:pPr>
              <a:defRPr sz="1100"/>
            </a:pPr>
            <a:r>
              <a:t>(blank) — 15 customers</a:t>
            </a:r>
          </a:p>
          <a:p>
            <a:pPr>
              <a:defRPr sz="1100"/>
            </a:pPr>
            <a:r>
              <a:t>  SD-WAN (12)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  Cat-C/SDA (3)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  <a:p>
            <a:pPr>
              <a:defRPr sz="1100"/>
            </a:pPr>
            <a:r>
              <a:t>GES-East — 6 customers</a:t>
            </a:r>
          </a:p>
          <a:p>
            <a:pPr>
              <a:defRPr sz="1100"/>
            </a:pPr>
            <a:r>
              <a:t>  SD-WAN (5)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>
              <a:defRPr sz="1100"/>
            </a:pPr>
            <a:r>
              <a:t>  Cat-C/SDA (1)</a:t>
            </a:r>
          </a:p>
          <a:p>
            <a:pPr lvl="1">
              <a:defRPr sz="1100"/>
            </a:pPr>
            <a:r>
              <a:t>MGB Cluster1</a:t>
            </a:r>
          </a:p>
          <a:p>
            <a:pPr>
              <a:defRPr sz="1100"/>
            </a:pPr>
            <a:r>
              <a:t>GES-Premier — 2 customers</a:t>
            </a:r>
          </a:p>
          <a:p>
            <a:pPr>
              <a:defRPr sz="1100"/>
            </a:pPr>
            <a:r>
              <a:t>  SD-WAN (1)</a:t>
            </a:r>
          </a:p>
          <a:p>
            <a:pPr lvl="1">
              <a:defRPr sz="1100"/>
            </a:pPr>
            <a:r>
              <a:t>The Home Depot</a:t>
            </a:r>
          </a:p>
          <a:p>
            <a:pPr>
              <a:defRPr sz="1100"/>
            </a:pPr>
            <a:r>
              <a:t>  Cat-C/SDA (1)</a:t>
            </a:r>
          </a:p>
          <a:p>
            <a:pPr lvl="1">
              <a:defRPr sz="1100"/>
            </a:pPr>
            <a:r>
              <a:t>HCA</a:t>
            </a:r>
          </a:p>
          <a:p>
            <a:pPr>
              <a:defRPr sz="1100"/>
            </a:pPr>
            <a:r>
              <a:t>GES-West — 2 customers</a:t>
            </a:r>
          </a:p>
          <a:p>
            <a:pPr>
              <a:defRPr sz="1100"/>
            </a:pPr>
            <a:r>
              <a:t>  SD-WAN (2)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>
              <a:defRPr sz="1100"/>
            </a:pPr>
            <a:r>
              <a:t>  Cat-C/SDA (0)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Parity gate (workbook snapshot)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Treat NaC Parity % ≥80% as the Phase 2 parity gate for this workbook. Customers listed = all customers with ≥1 scoped SD-WAN/Cat-C row (program scope).</a:t>
            </a:r>
          </a:p>
          <a:p>
            <a:pPr>
              <a:defRPr sz="1100"/>
            </a:pPr>
            <a:r>
              <a:t>SD-WAN (51)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Autozone</a:t>
            </a:r>
          </a:p>
          <a:p>
            <a:pPr lvl="1">
              <a:defRPr sz="1100"/>
            </a:pPr>
            <a:r>
              <a:t>Bank of America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CVS Pharmacy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DTCC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Exepdia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Fannie Mae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FISERV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ICE -DHS (Department of Homeland Security)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+ 13 more (see workbook)</a:t>
            </a:r>
          </a:p>
          <a:p>
            <a:pPr>
              <a:defRPr sz="1100"/>
            </a:pPr>
            <a:r>
              <a:t>Cat-C/SDA (47)</a:t>
            </a:r>
          </a:p>
          <a:p>
            <a:pPr lvl="1">
              <a:defRPr sz="1100"/>
            </a:pPr>
            <a:r>
              <a:t>3M</a:t>
            </a:r>
          </a:p>
          <a:p>
            <a:pPr lvl="1">
              <a:defRPr sz="1100"/>
            </a:pPr>
            <a:r>
              <a:t>AAFES</a:t>
            </a:r>
          </a:p>
          <a:p>
            <a:pPr lvl="1">
              <a:defRPr sz="1100"/>
            </a:pPr>
            <a:r>
              <a:t>ADP</a:t>
            </a:r>
          </a:p>
          <a:p>
            <a:pPr lvl="1">
              <a:defRPr sz="1100"/>
            </a:pPr>
            <a:r>
              <a:t>Ameriprise</a:t>
            </a:r>
          </a:p>
          <a:p>
            <a:pPr lvl="1">
              <a:defRPr sz="1100"/>
            </a:pPr>
            <a:r>
              <a:t>Bank Of America, Cedars Sinai</a:t>
            </a:r>
          </a:p>
          <a:p>
            <a:pPr lvl="1">
              <a:defRPr sz="1100"/>
            </a:pPr>
            <a:r>
              <a:t>Blackrock</a:t>
            </a:r>
          </a:p>
          <a:p>
            <a:pPr lvl="1">
              <a:defRPr sz="1100"/>
            </a:pPr>
            <a:r>
              <a:t>BNY</a:t>
            </a:r>
          </a:p>
          <a:p>
            <a:pPr lvl="1">
              <a:defRPr sz="1100"/>
            </a:pPr>
            <a:r>
              <a:t>Boeing</a:t>
            </a:r>
          </a:p>
          <a:p>
            <a:pPr lvl="1">
              <a:defRPr sz="1100"/>
            </a:pPr>
            <a:r>
              <a:t>Carnival Cruises</a:t>
            </a:r>
          </a:p>
          <a:p>
            <a:pPr lvl="1">
              <a:defRPr sz="1100"/>
            </a:pPr>
            <a:r>
              <a:t>Charles Schwab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</a:t>
            </a:r>
          </a:p>
          <a:p>
            <a:pPr lvl="1">
              <a:defRPr sz="1100"/>
            </a:pPr>
            <a:r>
              <a:t>CVS Pharmacy - TLM</a:t>
            </a:r>
          </a:p>
          <a:p>
            <a:pPr lvl="1">
              <a:defRPr sz="1100"/>
            </a:pPr>
            <a:r>
              <a:t>DELTA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Merck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MGB SVS Lab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NYULH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+ 9 more (see workbook)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NaC Parity Complete on ≥80% 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Customers appearing on ≥1 scoped row with NaC Parity % ≥80% (sheet completion field varies; list is the engagement-relevant cohort).</a:t>
            </a:r>
          </a:p>
          <a:p>
            <a:pPr>
              <a:defRPr sz="1100"/>
            </a:pPr>
            <a:r>
              <a:t>SD-WAN (20)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Cat-C/SDA (5)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Plan motion cohort (engineer + SDA / seller)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From plan: engineer + SDA / service seller motion. Only ≥80% interim-gate customers (≥1 scoped row with NaC Parity % ≥ 0.80). Customers with 0%–80% parity are on the separate interim-pipeline slide.</a:t>
            </a:r>
          </a:p>
          <a:p>
            <a:pPr>
              <a:defRPr sz="1100"/>
            </a:pPr>
            <a:r>
              <a:t>SD-WAN (20)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Cat-C/SDA (5)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RACI &amp; journey map cohort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Plan: RACI + journey map per architecture. Same cohort as the ≥80% interim gate only (does not include 0%–80% pipeline accounts — see separate slide).</a:t>
            </a:r>
          </a:p>
          <a:p>
            <a:pPr>
              <a:defRPr sz="1100"/>
            </a:pPr>
            <a:r>
              <a:t>SD-WAN (20)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Carrier Corporation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CommonSpirit Health</a:t>
            </a:r>
          </a:p>
          <a:p>
            <a:pPr lvl="1">
              <a:defRPr sz="1100"/>
            </a:pPr>
            <a:r>
              <a:t>Costco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Delta Airlines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Fidelity FIS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Huntington National Bank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Mass General Brigham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The Home Depot</a:t>
            </a:r>
          </a:p>
          <a:p>
            <a:pPr lvl="1">
              <a:defRPr sz="1100"/>
            </a:pPr>
            <a:r>
              <a:t>United Airlines</a:t>
            </a:r>
          </a:p>
          <a:p>
            <a:pPr>
              <a:defRPr sz="1100"/>
            </a:pPr>
            <a:r>
              <a:t>Cat-C/SDA (5)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HCA</a:t>
            </a:r>
          </a:p>
          <a:p>
            <a:pPr lvl="1">
              <a:defRPr sz="1100"/>
            </a:pPr>
            <a:r>
              <a:t>MGB Cluster1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Tepper Sports &amp; Entertainment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Motion cohort — parity &gt;0% and &lt;80% (interim pipeline)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Separate pipeline motion per leadership: customers with no row at/above the 80% interim gate, but ≥1 scoped SD-WAN or Cat-C/SDA row with 0% &lt; NaC Parity % &lt; 80%. Lists split by technology (Customer Name grain).</a:t>
            </a:r>
          </a:p>
          <a:p>
            <a:pPr>
              <a:defRPr sz="1100"/>
            </a:pPr>
            <a:r>
              <a:t>SD-WAN (0)</a:t>
            </a:r>
          </a:p>
          <a:p>
            <a:pPr>
              <a:defRPr sz="1100"/>
            </a:pPr>
            <a:r>
              <a:t>Cat-C/SDA (3)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MGB Cluster 2</a:t>
            </a:r>
          </a:p>
          <a:p>
            <a:pPr lvl="1">
              <a:defRPr sz="1100"/>
            </a:pPr>
            <a:r>
              <a:t>MGB SVS Lab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Criterion — Data hygiene follow-ups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100"/>
            </a:pPr>
            <a:r>
              <a:t>Customers needing data follow-up: missing numeric parity % on any scoped row OR blank Customer Segment on any scoped row (union).</a:t>
            </a:r>
          </a:p>
          <a:p>
            <a:pPr>
              <a:defRPr sz="1100"/>
            </a:pPr>
            <a:r>
              <a:t>SD-WAN (42)</a:t>
            </a:r>
          </a:p>
          <a:p>
            <a:pPr lvl="1">
              <a:defRPr sz="1100"/>
            </a:pPr>
            <a:r>
              <a:t>Abbvie</a:t>
            </a:r>
          </a:p>
          <a:p>
            <a:pPr lvl="1">
              <a:defRPr sz="1100"/>
            </a:pPr>
            <a:r>
              <a:t>Alcon</a:t>
            </a:r>
          </a:p>
          <a:p>
            <a:pPr lvl="1">
              <a:defRPr sz="1100"/>
            </a:pPr>
            <a:r>
              <a:t>Autozone</a:t>
            </a:r>
          </a:p>
          <a:p>
            <a:pPr lvl="1">
              <a:defRPr sz="1100"/>
            </a:pPr>
            <a:r>
              <a:t>Bank of America</a:t>
            </a:r>
          </a:p>
          <a:p>
            <a:pPr lvl="1">
              <a:defRPr sz="1100"/>
            </a:pPr>
            <a:r>
              <a:t>British Telecom - Bristol Myers Squibb</a:t>
            </a:r>
          </a:p>
          <a:p>
            <a:pPr lvl="1">
              <a:defRPr sz="1100"/>
            </a:pPr>
            <a:r>
              <a:t>CDK Global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CoX</a:t>
            </a:r>
          </a:p>
          <a:p>
            <a:pPr lvl="1">
              <a:defRPr sz="1100"/>
            </a:pPr>
            <a:r>
              <a:t>CVS Pharmacy</a:t>
            </a:r>
          </a:p>
          <a:p>
            <a:pPr lvl="1">
              <a:defRPr sz="1100"/>
            </a:pPr>
            <a:r>
              <a:t>DTCC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Exepdia</a:t>
            </a:r>
          </a:p>
          <a:p>
            <a:pPr lvl="1">
              <a:defRPr sz="1100"/>
            </a:pPr>
            <a:r>
              <a:t>ExxonMobil</a:t>
            </a:r>
          </a:p>
          <a:p>
            <a:pPr lvl="1">
              <a:defRPr sz="1100"/>
            </a:pPr>
            <a:r>
              <a:t>Fannie Mae</a:t>
            </a:r>
          </a:p>
          <a:p>
            <a:pPr lvl="1">
              <a:defRPr sz="1100"/>
            </a:pPr>
            <a:r>
              <a:t>FISERV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Gilead Sciences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HCA Healthcare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ICE -DHS (Department of Homeland Security)</a:t>
            </a:r>
          </a:p>
          <a:p>
            <a:pPr lvl="1">
              <a:defRPr sz="1100"/>
            </a:pPr>
            <a:r>
              <a:t>John Ryan - Test</a:t>
            </a:r>
          </a:p>
          <a:p>
            <a:pPr lvl="1">
              <a:defRPr sz="1100"/>
            </a:pPr>
            <a:r>
              <a:t>KeyBank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Mayo Clinic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MGB</a:t>
            </a:r>
          </a:p>
          <a:p>
            <a:pPr lvl="1">
              <a:defRPr sz="1100"/>
            </a:pPr>
            <a:r>
              <a:t>Micron</a:t>
            </a:r>
          </a:p>
          <a:p>
            <a:pPr lvl="1">
              <a:defRPr sz="1100"/>
            </a:pPr>
            <a:r>
              <a:t>New York City Health and Hospitals</a:t>
            </a:r>
          </a:p>
          <a:p>
            <a:pPr lvl="1">
              <a:defRPr sz="1100"/>
            </a:pPr>
            <a:r>
              <a:t>NFCU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Pacific Gas and Electric</a:t>
            </a:r>
          </a:p>
          <a:p>
            <a:pPr lvl="1">
              <a:defRPr sz="1100"/>
            </a:pPr>
            <a:r>
              <a:t>Pfizer</a:t>
            </a:r>
          </a:p>
          <a:p>
            <a:pPr lvl="1">
              <a:defRPr sz="1100"/>
            </a:pPr>
            <a:r>
              <a:t>PNC Bank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THD SD-WAN (Overlay 1-4)</a:t>
            </a:r>
          </a:p>
          <a:p>
            <a:pPr lvl="1">
              <a:defRPr sz="1100"/>
            </a:pPr>
            <a:r>
              <a:t>+ 4 more (see workbook)</a:t>
            </a:r>
          </a:p>
          <a:p>
            <a:pPr>
              <a:defRPr sz="1100"/>
            </a:pPr>
            <a:r>
              <a:t>Cat-C/SDA (33)</a:t>
            </a:r>
          </a:p>
          <a:p>
            <a:pPr lvl="1">
              <a:defRPr sz="1100"/>
            </a:pPr>
            <a:r>
              <a:t>Bank Of America, Cedars Sinai</a:t>
            </a:r>
          </a:p>
          <a:p>
            <a:pPr lvl="1">
              <a:defRPr sz="1100"/>
            </a:pPr>
            <a:r>
              <a:t>BNY</a:t>
            </a:r>
          </a:p>
          <a:p>
            <a:pPr lvl="1">
              <a:defRPr sz="1100"/>
            </a:pPr>
            <a:r>
              <a:t>Boeing</a:t>
            </a:r>
          </a:p>
          <a:p>
            <a:pPr lvl="1">
              <a:defRPr sz="1100"/>
            </a:pPr>
            <a:r>
              <a:t>Charles Schwab</a:t>
            </a:r>
          </a:p>
          <a:p>
            <a:pPr lvl="1">
              <a:defRPr sz="1100"/>
            </a:pPr>
            <a:r>
              <a:t>Charter Enterprise</a:t>
            </a:r>
          </a:p>
          <a:p>
            <a:pPr lvl="1">
              <a:defRPr sz="1100"/>
            </a:pPr>
            <a:r>
              <a:t>Cigna</a:t>
            </a:r>
          </a:p>
          <a:p>
            <a:pPr lvl="1">
              <a:defRPr sz="1100"/>
            </a:pPr>
            <a:r>
              <a:t>Commonspirit</a:t>
            </a:r>
          </a:p>
          <a:p>
            <a:pPr lvl="1">
              <a:defRPr sz="1100"/>
            </a:pPr>
            <a:r>
              <a:t>CVS Pharmacy - TLM</a:t>
            </a:r>
          </a:p>
          <a:p>
            <a:pPr lvl="1">
              <a:defRPr sz="1100"/>
            </a:pPr>
            <a:r>
              <a:t>DELTA</a:t>
            </a:r>
          </a:p>
          <a:p>
            <a:pPr lvl="1">
              <a:defRPr sz="1100"/>
            </a:pPr>
            <a:r>
              <a:t>Exelon</a:t>
            </a:r>
          </a:p>
          <a:p>
            <a:pPr lvl="1">
              <a:defRPr sz="1100"/>
            </a:pPr>
            <a:r>
              <a:t>Ford</a:t>
            </a:r>
          </a:p>
          <a:p>
            <a:pPr lvl="1">
              <a:defRPr sz="1100"/>
            </a:pPr>
            <a:r>
              <a:t>General Motors, United Health Group, Deloitte, Costco, Amtrak and Commonwealth of Pennsylvania</a:t>
            </a:r>
          </a:p>
          <a:p>
            <a:pPr lvl="1">
              <a:defRPr sz="1100"/>
            </a:pPr>
            <a:r>
              <a:t>Gilead</a:t>
            </a:r>
          </a:p>
          <a:p>
            <a:pPr lvl="1">
              <a:defRPr sz="1100"/>
            </a:pPr>
            <a:r>
              <a:t>GlobalFoundries</a:t>
            </a:r>
          </a:p>
          <a:p>
            <a:pPr lvl="1">
              <a:defRPr sz="1100"/>
            </a:pPr>
            <a:r>
              <a:t>IBM</a:t>
            </a:r>
          </a:p>
          <a:p>
            <a:pPr lvl="1">
              <a:defRPr sz="1100"/>
            </a:pPr>
            <a:r>
              <a:t>L'Oreal</a:t>
            </a:r>
          </a:p>
          <a:p>
            <a:pPr lvl="1">
              <a:defRPr sz="1100"/>
            </a:pPr>
            <a:r>
              <a:t>Marshfield</a:t>
            </a:r>
          </a:p>
          <a:p>
            <a:pPr lvl="1">
              <a:defRPr sz="1100"/>
            </a:pPr>
            <a:r>
              <a:t>Merck</a:t>
            </a:r>
          </a:p>
          <a:p>
            <a:pPr lvl="1">
              <a:defRPr sz="1100"/>
            </a:pPr>
            <a:r>
              <a:t>MetLife</a:t>
            </a:r>
          </a:p>
          <a:p>
            <a:pPr lvl="1">
              <a:defRPr sz="1100"/>
            </a:pPr>
            <a:r>
              <a:t>Montefiore</a:t>
            </a:r>
          </a:p>
          <a:p>
            <a:pPr lvl="1">
              <a:defRPr sz="1100"/>
            </a:pPr>
            <a:r>
              <a:t>Morgan Stanley</a:t>
            </a:r>
          </a:p>
          <a:p>
            <a:pPr lvl="1">
              <a:defRPr sz="1100"/>
            </a:pPr>
            <a:r>
              <a:t>NYCHHC</a:t>
            </a:r>
          </a:p>
          <a:p>
            <a:pPr lvl="1">
              <a:defRPr sz="1100"/>
            </a:pPr>
            <a:r>
              <a:t>Publix</a:t>
            </a:r>
          </a:p>
          <a:p>
            <a:pPr lvl="1">
              <a:defRPr sz="1100"/>
            </a:pPr>
            <a:r>
              <a:t>Sanford Health</a:t>
            </a:r>
          </a:p>
          <a:p>
            <a:pPr lvl="1">
              <a:defRPr sz="1100"/>
            </a:pPr>
            <a:r>
              <a:t>SMBC</a:t>
            </a:r>
          </a:p>
          <a:p>
            <a:pPr lvl="1">
              <a:defRPr sz="1100"/>
            </a:pPr>
            <a:r>
              <a:t>Southern Cal Edison</a:t>
            </a:r>
          </a:p>
          <a:p>
            <a:pPr lvl="1">
              <a:defRPr sz="1100"/>
            </a:pPr>
            <a:r>
              <a:t>Southern California Edison</a:t>
            </a:r>
          </a:p>
          <a:p>
            <a:pPr lvl="1">
              <a:defRPr sz="1100"/>
            </a:pPr>
            <a:r>
              <a:t>State Street bank</a:t>
            </a:r>
          </a:p>
          <a:p>
            <a:pPr lvl="1">
              <a:defRPr sz="1100"/>
            </a:pPr>
            <a:r>
              <a:t>Takeda</a:t>
            </a:r>
          </a:p>
          <a:p>
            <a:pPr lvl="1">
              <a:defRPr sz="1100"/>
            </a:pPr>
            <a:r>
              <a:t>Tepper Sports &amp; Entertainment</a:t>
            </a:r>
          </a:p>
          <a:p>
            <a:pPr lvl="1">
              <a:defRPr sz="1100"/>
            </a:pPr>
            <a:r>
              <a:t>Truist</a:t>
            </a:r>
          </a:p>
          <a:p>
            <a:pPr lvl="1">
              <a:defRPr sz="1100"/>
            </a:pPr>
            <a:r>
              <a:t>UMMS</a:t>
            </a:r>
          </a:p>
          <a:p>
            <a:pPr lvl="1">
              <a:defRPr sz="1100"/>
            </a:pPr>
            <a:r>
              <a:t>Wells Fargo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2025-Dark">
  <a:themeElements>
    <a:clrScheme name="CSCO_2025_Colors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2025-Dark" id="{AE7C598B-6687-E04E-AA05-FA6BAFDC8F0A}" vid="{536A6278-61C4-A444-9DCF-E7CD08E5D9E3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PPT-2025-Dark</Template>
  <TotalTime>2437</TotalTime>
  <Words>750</Words>
  <Application>Microsoft Macintosh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CiscoSansTT Medium</vt:lpstr>
      <vt:lpstr>CiscoSansTT</vt:lpstr>
      <vt:lpstr>Aptos</vt:lpstr>
      <vt:lpstr>Arial</vt:lpstr>
      <vt:lpstr>PPT-2025-Dark</vt:lpstr>
      <vt:lpstr>SaC / NaC Adoption Strategy</vt:lpstr>
      <vt:lpstr>Phases</vt:lpstr>
      <vt:lpstr>Phase 1: NaC-Parity – SDWAN and Cat-C</vt:lpstr>
      <vt:lpstr>Phase 2: Engage and Strategize with customers - &gt;80%**</vt:lpstr>
      <vt:lpstr>Phase 3: Staffing and Success Criteria</vt:lpstr>
      <vt:lpstr>Phase 4: As Applicable – Additional Training/Handoff</vt:lpstr>
      <vt:lpstr>Current Delivery Process</vt:lpstr>
      <vt:lpstr>New Delivery Process</vt:lpstr>
      <vt:lpstr>Typical NaC Feature Development Process</vt:lpstr>
      <vt:lpstr>In Grand Schema of Things – What do we prioritize?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Prajapati (dhprajap)</dc:creator>
  <cp:lastModifiedBy>Mike Brown (michabr4)</cp:lastModifiedBy>
  <cp:revision>2</cp:revision>
  <dcterms:created xsi:type="dcterms:W3CDTF">2026-03-05T13:29:41Z</dcterms:created>
  <dcterms:modified xsi:type="dcterms:W3CDTF">2026-04-16T04:19:16Z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PPT-2025-Dark:8</vt:lpwstr>
  </property>
  <property fmtid="{D5CDD505-2E9C-101B-9397-08002B2CF9AE}" pid="3" name="ClassificationContentMarkingFooterText">
    <vt:lpwstr>Cisco Confidential</vt:lpwstr>
  </property>
</Properties>
</file>