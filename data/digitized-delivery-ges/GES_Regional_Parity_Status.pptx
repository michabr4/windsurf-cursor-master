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media/image3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812" r:id="rId1"/>
  </p:sldMasterIdLst>
  <p:sldIdLst>
    <p:sldId id="256" r:id="rId11"/>
    <p:sldId id="257" r:id="rId10"/>
    <p:sldId id="258" r:id="rId9"/>
    <p:sldId id="259" r:id="rId8"/>
    <p:sldId id="260" r:id="rId7"/>
    <p:sldId id="261" r:id="rId6"/>
  </p:sldIdLst>
  <p:sldSz cx="12192000" cy="6858000"/>
  <p:notesSz cx="6858000" cy="9144000"/>
  <p:embeddedFontLst>
    <p:embeddedFont>
      <p:font typeface="CiscoSansTT" panose="020B0503020201020303" pitchFamily="34" charset="0"/>
      <p:regular r:id="rId12"/>
      <p:bold r:id="rId13"/>
      <p:italic r:id="rId14"/>
      <p:boldItalic r:id="rId15"/>
    </p:embeddedFont>
    <p:embeddedFont>
      <p:font typeface="CiscoSansTT Medium" panose="020B0903020201090303" pitchFamily="34" charset="0"/>
      <p:regular r:id="rId16"/>
      <p: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BDF6421-830F-6D41-9889-E64A4EF01E0C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Untitled Section" id="{1DCBAECA-DC8C-0440-9CEB-F499C5B2B720}">
          <p14:sldIdLst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>
        <p15:guide id="2" pos="3840">
          <p15:clr>
            <a:srgbClr val="F26B43"/>
          </p15:clr>
        </p15:guide>
        <p15:guide id="3" orient="horz" pos="2160">
          <p15:clr>
            <a:srgbClr val="F26B43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229"/>
    <p:restoredTop sz="98291"/>
  </p:normalViewPr>
  <p:slideViewPr>
    <p:cSldViewPr snapToGrid="0">
      <p:cViewPr varScale="1">
        <p:scale>
          <a:sx n="112" d="100"/>
          <a:sy n="112" d="100"/>
        </p:scale>
        <p:origin x="1272" y="48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" Type="http://schemas.openxmlformats.org/officeDocument/2006/relationships/slide" Target="slides/slide6.xml"/><Relationship Id="rId7" Type="http://schemas.openxmlformats.org/officeDocument/2006/relationships/slide" Target="slides/slide5.xml"/><Relationship Id="rId8" Type="http://schemas.openxmlformats.org/officeDocument/2006/relationships/slide" Target="slides/slide4.xml"/><Relationship Id="rId9" Type="http://schemas.openxmlformats.org/officeDocument/2006/relationships/slide" Target="slides/slide3.xml"/><Relationship Id="rId10" Type="http://schemas.openxmlformats.org/officeDocument/2006/relationships/slide" Target="slides/slide2.xml"/><Relationship Id="rId11" Type="http://schemas.openxmlformats.org/officeDocument/2006/relationships/slide" Target="slides/slide1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3.sv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1, Two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0368B8A-B8FA-06EC-E6D8-DF0F60F2EF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871345"/>
            <a:ext cx="5048063" cy="1555148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512820"/>
            <a:ext cx="5048063" cy="228600"/>
          </a:xfrm>
          <a:noFill/>
        </p:spPr>
        <p:txBody>
          <a:bodyPr/>
          <a:lstStyle>
            <a:lvl1pPr marL="0" indent="0">
              <a:buNone/>
              <a:defRPr sz="1600" b="0"/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9E2B63B-5B68-90B7-7A62-17A839591C9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3851" y="4061400"/>
            <a:ext cx="5048090" cy="457200"/>
          </a:xfrm>
        </p:spPr>
        <p:txBody>
          <a:bodyPr anchor="t" anchorCtr="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182880" lvl="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</a:pPr>
            <a:r>
              <a:rPr lang="en-US" dirty="0"/>
              <a:t>Speaker Name</a:t>
            </a:r>
          </a:p>
          <a:p>
            <a:pPr marL="182880" lvl="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</a:pPr>
            <a:r>
              <a:rPr lang="en-US" dirty="0"/>
              <a:t>Speaker Title placeholder, @social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80638510-2998-9359-2A51-B0CA834B62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4676458"/>
            <a:ext cx="5047270" cy="459455"/>
          </a:xfrm>
          <a:noFill/>
        </p:spPr>
        <p:txBody>
          <a:bodyPr anchor="t" anchorCtr="0"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4643" y="6360518"/>
            <a:ext cx="3906838" cy="497482"/>
          </a:xfrm>
          <a:noFill/>
        </p:spPr>
        <p:txBody>
          <a:bodyPr/>
          <a:lstStyle>
            <a:lvl1pPr marL="0" indent="0" algn="l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23" name="Graphic 21">
            <a:extLst>
              <a:ext uri="{FF2B5EF4-FFF2-40B4-BE49-F238E27FC236}">
                <a16:creationId xmlns:a16="http://schemas.microsoft.com/office/drawing/2014/main" id="{0B51E088-9CCC-0F69-112A-CEC9A65FA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6107248" y="781243"/>
            <a:ext cx="5303520" cy="5303520"/>
          </a:xfrm>
          <a:custGeom>
            <a:avLst/>
            <a:gdLst>
              <a:gd name="connsiteX0" fmla="*/ 5291567 w 5291566"/>
              <a:gd name="connsiteY0" fmla="*/ 2645783 h 5291566"/>
              <a:gd name="connsiteX1" fmla="*/ 2645783 w 5291566"/>
              <a:gd name="connsiteY1" fmla="*/ 5291567 h 5291566"/>
              <a:gd name="connsiteX2" fmla="*/ 0 w 5291566"/>
              <a:gd name="connsiteY2" fmla="*/ 2645783 h 5291566"/>
              <a:gd name="connsiteX3" fmla="*/ 2645783 w 5291566"/>
              <a:gd name="connsiteY3" fmla="*/ 0 h 5291566"/>
              <a:gd name="connsiteX4" fmla="*/ 5291567 w 5291566"/>
              <a:gd name="connsiteY4" fmla="*/ 2645783 h 5291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91566" h="5291566">
                <a:moveTo>
                  <a:pt x="5291567" y="2645783"/>
                </a:moveTo>
                <a:cubicBezTo>
                  <a:pt x="5291567" y="4107009"/>
                  <a:pt x="4107009" y="5291567"/>
                  <a:pt x="2645783" y="5291567"/>
                </a:cubicBezTo>
                <a:cubicBezTo>
                  <a:pt x="1184557" y="5291567"/>
                  <a:pt x="0" y="4107009"/>
                  <a:pt x="0" y="2645783"/>
                </a:cubicBezTo>
                <a:cubicBezTo>
                  <a:pt x="0" y="1184557"/>
                  <a:pt x="1184557" y="0"/>
                  <a:pt x="2645783" y="0"/>
                </a:cubicBezTo>
                <a:cubicBezTo>
                  <a:pt x="4107009" y="0"/>
                  <a:pt x="5291567" y="1184557"/>
                  <a:pt x="5291567" y="2645783"/>
                </a:cubicBezTo>
                <a:close/>
              </a:path>
            </a:pathLst>
          </a:custGeom>
          <a:solidFill>
            <a:schemeClr val="tx1"/>
          </a:solidFill>
          <a:ln w="50800" cap="flat">
            <a:gradFill flip="none" rotWithShape="1">
              <a:gsLst>
                <a:gs pos="0">
                  <a:srgbClr val="3070E5"/>
                </a:gs>
                <a:gs pos="35000">
                  <a:srgbClr val="1ABBE9"/>
                </a:gs>
                <a:gs pos="43000">
                  <a:srgbClr val="1ABBE9"/>
                </a:gs>
                <a:gs pos="60000">
                  <a:srgbClr val="FD017F"/>
                </a:gs>
                <a:gs pos="100000">
                  <a:srgbClr val="FCA601"/>
                </a:gs>
              </a:gsLst>
              <a:lin ang="0" scaled="1"/>
              <a:tileRect/>
            </a:gra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281171" y="3181936"/>
            <a:ext cx="955675" cy="50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323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2, Two Speaker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EFAB65E-774E-7C2F-9733-CE6410F86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260471"/>
            <a:ext cx="10888663" cy="4351342"/>
          </a:xfrm>
          <a:prstGeom prst="rect">
            <a:avLst/>
          </a:prstGeom>
          <a:solidFill>
            <a:schemeClr val="tx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181224"/>
            <a:ext cx="6656388" cy="1554169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827463"/>
            <a:ext cx="665638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4360866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4360866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058274" y="3188776"/>
            <a:ext cx="914400" cy="480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929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1, Four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0368B8A-B8FA-06EC-E6D8-DF0F60F2EF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244600"/>
            <a:ext cx="5048063" cy="1555148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2886075"/>
            <a:ext cx="5048063" cy="228600"/>
          </a:xfrm>
          <a:noFill/>
        </p:spPr>
        <p:txBody>
          <a:bodyPr/>
          <a:lstStyle>
            <a:lvl1pPr marL="0" indent="0">
              <a:buNone/>
              <a:defRPr sz="1600" b="0"/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9E2B63B-5B68-90B7-7A62-17A839591C9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3851" y="3428789"/>
            <a:ext cx="5048090" cy="457200"/>
          </a:xfrm>
        </p:spPr>
        <p:txBody>
          <a:bodyPr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182880" lvl="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</a:pPr>
            <a:r>
              <a:rPr lang="en-US" dirty="0"/>
              <a:t>Speaker Name</a:t>
            </a:r>
          </a:p>
          <a:p>
            <a:pPr marL="182880" lvl="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</a:pPr>
            <a:r>
              <a:rPr lang="en-US" dirty="0"/>
              <a:t>Speaker Title placeholder, @social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80638510-2998-9359-2A51-B0CA834B62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4051300"/>
            <a:ext cx="5047270" cy="459455"/>
          </a:xfrm>
          <a:noFill/>
        </p:spPr>
        <p:txBody>
          <a:bodyPr anchor="b" anchorCtr="0"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0E61D1-59EB-7A86-0D12-9388193F45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3849" y="4681134"/>
            <a:ext cx="5046663" cy="457200"/>
          </a:xfrm>
        </p:spPr>
        <p:txBody>
          <a:bodyPr anchor="b" anchorCtr="0"/>
          <a:lstStyle>
            <a:lvl1pPr marL="0" indent="0">
              <a:spcAft>
                <a:spcPts val="0"/>
              </a:spcAft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 marL="182880" indent="0">
              <a:spcAft>
                <a:spcPts val="0"/>
              </a:spcAft>
              <a:buNone/>
              <a:defRPr sz="1400"/>
            </a:lvl2pPr>
            <a:lvl3pPr marL="365760" indent="0">
              <a:spcAft>
                <a:spcPts val="0"/>
              </a:spcAft>
              <a:buNone/>
              <a:defRPr sz="1200"/>
            </a:lvl3pPr>
            <a:lvl4pPr marL="548640" indent="0">
              <a:spcAft>
                <a:spcPts val="0"/>
              </a:spcAft>
              <a:buNone/>
              <a:defRPr sz="1100"/>
            </a:lvl4pPr>
            <a:lvl5pPr marL="731520" indent="0">
              <a:spcAft>
                <a:spcPts val="0"/>
              </a:spcAft>
              <a:buNone/>
              <a:defRPr sz="1050"/>
            </a:lvl5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Speaker Name</a:t>
            </a:r>
          </a:p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Speaker Title placeholder, @social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175C0FC-DD02-0704-8A17-1B3037F861D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3848" y="5306439"/>
            <a:ext cx="5046663" cy="457200"/>
          </a:xfrm>
        </p:spPr>
        <p:txBody>
          <a:bodyPr anchor="b" anchorCtr="0"/>
          <a:lstStyle>
            <a:lvl1pPr marL="0" indent="0">
              <a:spcAft>
                <a:spcPts val="0"/>
              </a:spcAft>
              <a:buNone/>
              <a:defRPr sz="1400"/>
            </a:lvl1pPr>
            <a:lvl2pPr marL="182880" indent="0">
              <a:buNone/>
              <a:defRPr sz="1200"/>
            </a:lvl2pPr>
            <a:lvl3pPr marL="365760" indent="0">
              <a:buNone/>
              <a:defRPr sz="1100"/>
            </a:lvl3pPr>
            <a:lvl4pPr marL="548640" indent="0">
              <a:buNone/>
              <a:defRPr sz="1050"/>
            </a:lvl4pPr>
            <a:lvl5pPr marL="731520" indent="0">
              <a:buNone/>
              <a:defRPr sz="1000"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4643" y="6360518"/>
            <a:ext cx="3906838" cy="497482"/>
          </a:xfrm>
          <a:noFill/>
        </p:spPr>
        <p:txBody>
          <a:bodyPr/>
          <a:lstStyle>
            <a:lvl1pPr marL="0" indent="0" algn="l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23" name="Graphic 21">
            <a:extLst>
              <a:ext uri="{FF2B5EF4-FFF2-40B4-BE49-F238E27FC236}">
                <a16:creationId xmlns:a16="http://schemas.microsoft.com/office/drawing/2014/main" id="{0B51E088-9CCC-0F69-112A-CEC9A65FA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6107248" y="781243"/>
            <a:ext cx="5303520" cy="5303520"/>
          </a:xfrm>
          <a:custGeom>
            <a:avLst/>
            <a:gdLst>
              <a:gd name="connsiteX0" fmla="*/ 5291567 w 5291566"/>
              <a:gd name="connsiteY0" fmla="*/ 2645783 h 5291566"/>
              <a:gd name="connsiteX1" fmla="*/ 2645783 w 5291566"/>
              <a:gd name="connsiteY1" fmla="*/ 5291567 h 5291566"/>
              <a:gd name="connsiteX2" fmla="*/ 0 w 5291566"/>
              <a:gd name="connsiteY2" fmla="*/ 2645783 h 5291566"/>
              <a:gd name="connsiteX3" fmla="*/ 2645783 w 5291566"/>
              <a:gd name="connsiteY3" fmla="*/ 0 h 5291566"/>
              <a:gd name="connsiteX4" fmla="*/ 5291567 w 5291566"/>
              <a:gd name="connsiteY4" fmla="*/ 2645783 h 5291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91566" h="5291566">
                <a:moveTo>
                  <a:pt x="5291567" y="2645783"/>
                </a:moveTo>
                <a:cubicBezTo>
                  <a:pt x="5291567" y="4107009"/>
                  <a:pt x="4107009" y="5291567"/>
                  <a:pt x="2645783" y="5291567"/>
                </a:cubicBezTo>
                <a:cubicBezTo>
                  <a:pt x="1184557" y="5291567"/>
                  <a:pt x="0" y="4107009"/>
                  <a:pt x="0" y="2645783"/>
                </a:cubicBezTo>
                <a:cubicBezTo>
                  <a:pt x="0" y="1184557"/>
                  <a:pt x="1184557" y="0"/>
                  <a:pt x="2645783" y="0"/>
                </a:cubicBezTo>
                <a:cubicBezTo>
                  <a:pt x="4107009" y="0"/>
                  <a:pt x="5291567" y="1184557"/>
                  <a:pt x="5291567" y="2645783"/>
                </a:cubicBezTo>
                <a:close/>
              </a:path>
            </a:pathLst>
          </a:custGeom>
          <a:solidFill>
            <a:schemeClr val="tx1"/>
          </a:solidFill>
          <a:ln w="50800" cap="flat">
            <a:gradFill flip="none" rotWithShape="1">
              <a:gsLst>
                <a:gs pos="0">
                  <a:srgbClr val="3070E5"/>
                </a:gs>
                <a:gs pos="35000">
                  <a:srgbClr val="1ABBE9"/>
                </a:gs>
                <a:gs pos="43000">
                  <a:srgbClr val="1ABBE9"/>
                </a:gs>
                <a:gs pos="60000">
                  <a:srgbClr val="FD017F"/>
                </a:gs>
                <a:gs pos="100000">
                  <a:srgbClr val="FCA601"/>
                </a:gs>
              </a:gsLst>
              <a:lin ang="0" scaled="1"/>
              <a:tileRect/>
            </a:gradFill>
            <a:prstDash val="solid"/>
            <a:miter/>
          </a:ln>
        </p:spPr>
        <p:txBody>
          <a:bodyPr rtlCol="0" anchor="ctr"/>
          <a:lstStyle/>
          <a:p>
            <a:pPr lvl="0"/>
            <a:endParaRPr lang="en-US" dirty="0"/>
          </a:p>
        </p:txBody>
      </p:sp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281171" y="3181936"/>
            <a:ext cx="955675" cy="50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979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2, Four Speaker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EFAB65E-774E-7C2F-9733-CE6410F86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260471"/>
            <a:ext cx="10888663" cy="4351342"/>
          </a:xfrm>
          <a:prstGeom prst="rect">
            <a:avLst/>
          </a:prstGeom>
          <a:solidFill>
            <a:schemeClr val="tx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556884"/>
            <a:ext cx="6656388" cy="1554169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203123"/>
            <a:ext cx="665638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3736526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3736526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975F4503-6E14-DE87-30D2-13904F94B3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3850" y="4363133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09DECD55-6AA1-8B80-F758-69B1E9337A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0687" y="4363133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058274" y="3188776"/>
            <a:ext cx="914400" cy="480447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490766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3, Four Speaker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23850" y="320675"/>
            <a:ext cx="792163" cy="416221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492374"/>
            <a:ext cx="10167938" cy="1243019"/>
          </a:xfrm>
        </p:spPr>
        <p:txBody>
          <a:bodyPr anchor="b" anchorCtr="0"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Slide Title Layout 3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49" y="3827463"/>
            <a:ext cx="1016793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4360863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72EFECA-80DB-74BA-813F-3952A15A502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30688" y="4360863"/>
            <a:ext cx="4886325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050"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4990779"/>
            <a:ext cx="3725863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BBB47F0-F6D2-5FD5-1C2D-8963A9B280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0688" y="4990779"/>
            <a:ext cx="4886325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050"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4182939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vent Only Title Slide 1, Two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181224"/>
            <a:ext cx="6656388" cy="1554169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827463"/>
            <a:ext cx="665638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4360866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4360866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449324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vent Only Title Slide 2, Four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556884"/>
            <a:ext cx="6656388" cy="1554169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203123"/>
            <a:ext cx="665638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3736526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3736526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975F4503-6E14-DE87-30D2-13904F94B3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3850" y="4363133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09DECD55-6AA1-8B80-F758-69B1E9337A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0687" y="4363133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727031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vent Only Title Slide 3, Six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556884"/>
            <a:ext cx="6656388" cy="1554169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203123"/>
            <a:ext cx="665638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3736526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3736526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975F4503-6E14-DE87-30D2-13904F94B3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3850" y="4363133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09DECD55-6AA1-8B80-F758-69B1E9337A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0687" y="4363133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989D1F9-5949-EAFF-931D-8121D6A66A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3850" y="4986338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3D1ACE7D-3D09-2D50-1C06-DBAD3893A9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30687" y="4986338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822029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A470DCA-01D3-75CC-4B81-AF6AC1F46C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98146"/>
            <a:ext cx="2749550" cy="49244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66DE8E-18DA-4564-080D-AD4F9F492D6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08588" y="296863"/>
            <a:ext cx="550862" cy="365125"/>
          </a:xfrm>
        </p:spPr>
        <p:txBody>
          <a:bodyPr vert="horz" lIns="0" tIns="0" rIns="0" bIns="0" rtlCol="0" anchor="t" anchorCtr="0"/>
          <a:lstStyle>
            <a:lvl1pPr marL="0" indent="0">
              <a:lnSpc>
                <a:spcPct val="90000"/>
              </a:lnSpc>
              <a:buNone/>
              <a:defRPr kumimoji="0" lang="en-US" sz="3200" b="0" i="0" u="none" strike="noStrike" cap="none" spc="27" normalizeH="0" baseline="0" dirty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j-lt"/>
                <a:cs typeface="CiscoSansTT Light" panose="020B0503020201020303" pitchFamily="34" charset="0"/>
              </a:defRPr>
            </a:lvl1pPr>
          </a:lstStyle>
          <a:p>
            <a:pPr marL="0" lvl="0" algn="r" defTabSz="914400" latinLnBrk="0"/>
            <a:r>
              <a:rPr lang="en-US" dirty="0"/>
              <a:t>##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21C779-BAEC-654A-5E9A-684AEBA7E39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4900" y="296863"/>
            <a:ext cx="5683250" cy="365125"/>
          </a:xfrm>
          <a:noFill/>
        </p:spPr>
        <p:txBody>
          <a:bodyPr anchor="t" anchorCtr="0"/>
          <a:lstStyle>
            <a:lvl1pPr marL="0" indent="0" algn="l" defTabSz="912276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1000"/>
              </a:spcAft>
              <a:buClrTx/>
              <a:buSzPct val="70000"/>
              <a:buFont typeface="Arial" panose="020B0604020202020204" pitchFamily="34" charset="0"/>
              <a:buNone/>
              <a:defRPr lang="en-US" sz="3200" b="0" i="0" u="none" kern="1200" dirty="0">
                <a:solidFill>
                  <a:schemeClr val="bg1"/>
                </a:solidFill>
                <a:latin typeface="+mj-lt"/>
                <a:ea typeface="CiscoSansTT Thin" charset="0"/>
                <a:cs typeface="CiscoSansTT Thin" charset="0"/>
              </a:defRPr>
            </a:lvl1pPr>
          </a:lstStyle>
          <a:p>
            <a:pPr lvl="0"/>
            <a:r>
              <a:rPr lang="en-US" dirty="0"/>
              <a:t>Agenda list placeholder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37F1A5-67B6-4A78-7FA7-0860E1B6F9B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 dirty="0"/>
              <a:t>Session ID: BRKSEC-XXXX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200302-2202-F22C-D162-871BF904F46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4766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740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Onl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009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 Title, Top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EFB629D-1461-3E6E-194F-1E2781C58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8146"/>
            <a:ext cx="4703763" cy="94645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02D1E1-C16C-597A-29F4-4F0B590395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84900" y="320675"/>
            <a:ext cx="5683250" cy="923925"/>
          </a:xfrm>
        </p:spPr>
        <p:txBody>
          <a:bodyPr/>
          <a:lstStyle>
            <a:lvl1pPr marL="0" indent="0">
              <a:buNone/>
              <a:defRPr sz="1800" b="0"/>
            </a:lvl1pPr>
            <a:lvl2pPr marL="182880" indent="0">
              <a:buNone/>
              <a:defRPr sz="1600" b="0"/>
            </a:lvl2pPr>
            <a:lvl3pPr marL="365760" indent="0">
              <a:buNone/>
              <a:defRPr sz="1400" b="0"/>
            </a:lvl3pPr>
            <a:lvl4pPr marL="548640" indent="0">
              <a:buNone/>
              <a:defRPr sz="1200" b="0"/>
            </a:lvl4pPr>
            <a:lvl5pPr marL="731520" indent="0">
              <a:buNone/>
              <a:defRPr sz="1100" b="0"/>
            </a:lvl5pPr>
          </a:lstStyle>
          <a:p>
            <a:pPr lvl="0"/>
            <a:r>
              <a:rPr lang="en-US" dirty="0"/>
              <a:t>Subheading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599622-5FA2-FEEE-3C33-0A896ADDB12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9358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 Onl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AB58A4-E099-9FBA-C32F-D0D994BC76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-2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11544300" cy="49244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740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AB58A4-E099-9FBA-C32F-D0D994BC76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-2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/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11544300" cy="49244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A259C3D-581C-B8BC-32B4-EE2B22A753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1114425"/>
            <a:ext cx="5772150" cy="441325"/>
          </a:xfrm>
        </p:spPr>
        <p:txBody>
          <a:bodyPr/>
          <a:lstStyle>
            <a:lvl1pPr marL="0" indent="0">
              <a:buNone/>
              <a:defRPr sz="160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8187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1092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, Section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9785467-C0DB-C17E-5173-C6C6A323A1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0"/>
            <a:ext cx="5772150" cy="466342"/>
          </a:xfrm>
        </p:spPr>
        <p:txBody>
          <a:bodyPr anchor="b" anchorCtr="0"/>
          <a:lstStyle>
            <a:lvl1pPr marL="0" indent="0">
              <a:buNone/>
              <a:defRPr sz="1200"/>
            </a:lvl1pPr>
            <a:lvl2pPr marL="182880" indent="0">
              <a:buNone/>
              <a:defRPr sz="1100"/>
            </a:lvl2pPr>
            <a:lvl3pPr marL="365760" indent="0">
              <a:buNone/>
              <a:defRPr sz="1050"/>
            </a:lvl3pPr>
            <a:lvl4pPr marL="548640" indent="0">
              <a:buNone/>
              <a:defRPr sz="1000"/>
            </a:lvl4pPr>
            <a:lvl5pPr marL="731520" indent="0">
              <a:buNone/>
              <a:defRPr sz="900"/>
            </a:lvl5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5281613" cy="1247775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033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, Section,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5376922-1A18-EB35-1718-708DF44FBF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0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/>
            </a:lvl1pPr>
            <a:lvl2pPr marL="182880" indent="0">
              <a:buNone/>
              <a:defRPr sz="1200"/>
            </a:lvl2pPr>
            <a:lvl3pPr marL="365760" indent="0">
              <a:buNone/>
              <a:defRPr sz="1200"/>
            </a:lvl3pPr>
            <a:lvl4pPr marL="548640" indent="0">
              <a:buNone/>
              <a:defRPr sz="1200"/>
            </a:lvl4pPr>
            <a:lvl5pPr marL="731520" indent="0">
              <a:buNone/>
              <a:defRPr sz="1200"/>
            </a:lvl5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0702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 Title, Body Cop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6125826-3231-68F4-7FEE-8A01F6F42B5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81774" y="1244600"/>
            <a:ext cx="5286375" cy="4367213"/>
          </a:xfrm>
        </p:spPr>
        <p:txBody>
          <a:bodyPr anchor="ctr" anchorCtr="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0396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 Section, Title, Body Cop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6125826-3231-68F4-7FEE-8A01F6F42B5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81774" y="1244600"/>
            <a:ext cx="5286375" cy="4367213"/>
          </a:xfrm>
        </p:spPr>
        <p:txBody>
          <a:bodyPr anchor="ctr" anchorCtr="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3B0377C-E9B5-910F-ED3D-37BEFE79488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0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/>
            </a:lvl1pPr>
            <a:lvl2pPr marL="182880" indent="0">
              <a:buNone/>
              <a:defRPr sz="1200"/>
            </a:lvl2pPr>
            <a:lvl3pPr marL="365760" indent="0">
              <a:buNone/>
              <a:defRPr sz="1200"/>
            </a:lvl3pPr>
            <a:lvl4pPr marL="548640" indent="0">
              <a:buNone/>
              <a:defRPr sz="1200"/>
            </a:lvl4pPr>
            <a:lvl5pPr marL="731520" indent="0">
              <a:buNone/>
              <a:defRPr sz="1200"/>
            </a:lvl5pPr>
          </a:lstStyle>
          <a:p>
            <a:pPr lvl="0"/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759459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1 Column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953DF5-78A1-7006-522C-1EF18B91ADA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3850" y="952500"/>
            <a:ext cx="11544300" cy="5122863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8207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2 Columns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2DBF3C-0929-006D-E549-2D8EABB3CA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3851" y="2492376"/>
            <a:ext cx="5486400" cy="1868488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63D847-B2CC-D10C-474F-9374B33501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81751" y="2494756"/>
            <a:ext cx="5486400" cy="1868488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0693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2DBF3C-0929-006D-E549-2D8EABB3CA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3851" y="2492376"/>
            <a:ext cx="5486400" cy="1868488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63D847-B2CC-D10C-474F-9374B33501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81751" y="2494756"/>
            <a:ext cx="5486400" cy="1868488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4828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 dirty="0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AFF7876-DE6D-49C2-DD58-608A9798B3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48" y="2179638"/>
            <a:ext cx="347472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2DBF3C-0929-006D-E549-2D8EABB3CA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58639" y="2179638"/>
            <a:ext cx="347472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63D847-B2CC-D10C-474F-9374B33501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93430" y="2181225"/>
            <a:ext cx="347472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5146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AFF7876-DE6D-49C2-DD58-608A9798B3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0200" y="2179638"/>
            <a:ext cx="246888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2DBF3C-0929-006D-E549-2D8EABB3CA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51107" y="2179638"/>
            <a:ext cx="246888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63D847-B2CC-D10C-474F-9374B33501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72014" y="2179638"/>
            <a:ext cx="246888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DFF45C9-081C-CA2E-F4A7-8383A93B6B0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392920" y="2179638"/>
            <a:ext cx="246888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7282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5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AFF7876-DE6D-49C2-DD58-608A9798B3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0200" y="2179638"/>
            <a:ext cx="2011680" cy="24955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2DBF3C-0929-006D-E549-2D8EABB3CA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10180" y="2179638"/>
            <a:ext cx="2011680" cy="24955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63D847-B2CC-D10C-474F-9374B33501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90160" y="2179638"/>
            <a:ext cx="2011680" cy="24955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DFF45C9-081C-CA2E-F4A7-8383A93B6B0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470140" y="2179638"/>
            <a:ext cx="2011680" cy="24955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B7038BF-5DE9-94EF-1E39-92627DD8AC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850120" y="2181225"/>
            <a:ext cx="2011680" cy="2493963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8208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, 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6862"/>
            <a:ext cx="5281613" cy="1258888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FBFEB48-5190-C5F8-C046-27E12C0DAE6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07430" y="320675"/>
            <a:ext cx="5760720" cy="5759451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55448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584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3 Photo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6862"/>
            <a:ext cx="7235825" cy="947738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FBFEB48-5190-C5F8-C046-27E12C0DAE6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40700" y="320675"/>
            <a:ext cx="3727450" cy="5759451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3716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9257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/3 Photo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6862"/>
            <a:ext cx="3328987" cy="1258888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FBFEB48-5190-C5F8-C046-27E12C0DAE6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049713" y="320676"/>
            <a:ext cx="7818436" cy="5754688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46304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047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 Title,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3116793"/>
            <a:ext cx="5284788" cy="1246188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03A889C-4BCD-59AA-132B-C3FD4F8E65F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184901" y="795338"/>
            <a:ext cx="5284788" cy="5284788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46304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666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3 Slide Title, Section, Body, 2/3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AB58A4-E099-9FBA-C32F-D0D994BC76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-2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49" y="622300"/>
            <a:ext cx="3328989" cy="15589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6653D0B-638B-EB5D-F379-EF10C80DCC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51" y="3429000"/>
            <a:ext cx="3328988" cy="2646363"/>
          </a:xfrm>
        </p:spPr>
        <p:txBody>
          <a:bodyPr anchor="b" anchorCtr="0"/>
          <a:lstStyle>
            <a:lvl1pPr marL="0" indent="0">
              <a:buNone/>
              <a:defRPr sz="160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798C8AA3-6350-A299-E288-D693A8EC893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049713" y="622300"/>
            <a:ext cx="7818436" cy="5453063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46304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3146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 Section, Title 1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9785467-C0DB-C17E-5173-C6C6A323A1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0"/>
            <a:ext cx="5772150" cy="466342"/>
          </a:xfrm>
        </p:spPr>
        <p:txBody>
          <a:bodyPr anchor="b" anchorCtr="0"/>
          <a:lstStyle>
            <a:lvl1pPr marL="0" indent="0">
              <a:buNone/>
              <a:defRPr sz="1200"/>
            </a:lvl1pPr>
            <a:lvl2pPr marL="182880" indent="0">
              <a:buNone/>
              <a:defRPr sz="1100"/>
            </a:lvl2pPr>
            <a:lvl3pPr marL="365760" indent="0">
              <a:buNone/>
              <a:defRPr sz="1050"/>
            </a:lvl3pPr>
            <a:lvl4pPr marL="548640" indent="0">
              <a:buNone/>
              <a:defRPr sz="1000"/>
            </a:lvl4pPr>
            <a:lvl5pPr marL="731520" indent="0">
              <a:buNone/>
              <a:defRPr sz="900"/>
            </a:lvl5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5281613" cy="1247775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2739B37-658D-FBF5-94C3-66EECB73F7D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1" y="320675"/>
            <a:ext cx="5766436" cy="5754687"/>
          </a:xfrm>
          <a:prstGeom prst="roundRect">
            <a:avLst>
              <a:gd name="adj" fmla="val 1714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46304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 dirty="0"/>
              <a:t>To add your image, </a:t>
            </a:r>
            <a:br>
              <a:rPr lang="en-US" dirty="0"/>
            </a:br>
            <a:r>
              <a:rPr lang="en-US" dirty="0"/>
              <a:t>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239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Full Margin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23850" y="952500"/>
            <a:ext cx="11544300" cy="5122863"/>
          </a:xfrm>
          <a:prstGeom prst="roundRect">
            <a:avLst>
              <a:gd name="adj" fmla="val 1503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18872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9265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Full Margin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1154430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99D23610-D323-6271-753B-C40A3678BD6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23850" y="1244600"/>
            <a:ext cx="11544300" cy="4830763"/>
          </a:xfrm>
          <a:prstGeom prst="roundRect">
            <a:avLst>
              <a:gd name="adj" fmla="val 1897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18872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560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Full Margin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AB58A4-E099-9FBA-C32F-D0D994BC76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-2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/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11544300" cy="49244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170B322-9DD5-07FB-D258-3DA95EF8E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23850" y="1244600"/>
            <a:ext cx="11544300" cy="4830763"/>
          </a:xfrm>
          <a:prstGeom prst="roundRect">
            <a:avLst>
              <a:gd name="adj" fmla="val 1897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28016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1142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-bleed Photo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  <p:txBody>
          <a:bodyPr tIns="210312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038" y="952500"/>
            <a:ext cx="8794750" cy="91757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168980-BFE5-40AF-63BF-9DB031B379C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7B9760-CDAA-BC58-F236-F1837F40C2D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0354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Bleed Photo,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  <p:txBody>
          <a:bodyPr tIns="210312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2" y="4540250"/>
            <a:ext cx="10747375" cy="1071563"/>
          </a:xfrm>
        </p:spPr>
        <p:txBody>
          <a:bodyPr anchor="b" anchorCtr="0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C7D8B-10D2-2133-F08F-266FA09AD87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F3EDC-58FE-7AC5-F13A-6FDE8EDA83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5243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-bleed Photo, Section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  <p:txBody>
          <a:bodyPr tIns="210312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E21AB-8C85-5F58-60F8-E68917124A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97038" y="-7937"/>
            <a:ext cx="8794750" cy="466344"/>
          </a:xfrm>
        </p:spPr>
        <p:txBody>
          <a:bodyPr anchor="b" anchorCtr="0"/>
          <a:lstStyle>
            <a:lvl1pPr marL="0" indent="0" algn="ctr">
              <a:buNone/>
              <a:defRPr sz="1200"/>
            </a:lvl1pPr>
            <a:lvl2pPr algn="ctr">
              <a:defRPr sz="1400"/>
            </a:lvl2pPr>
            <a:lvl3pPr algn="ctr">
              <a:defRPr sz="1200"/>
            </a:lvl3pPr>
            <a:lvl4pPr algn="ctr">
              <a:defRPr sz="1100"/>
            </a:lvl4pPr>
            <a:lvl5pPr algn="ctr">
              <a:defRPr sz="1050"/>
            </a:lvl5pPr>
          </a:lstStyle>
          <a:p>
            <a:pPr lvl="0"/>
            <a:r>
              <a:rPr lang="en-US" dirty="0"/>
              <a:t>Section title placeholder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038" y="952500"/>
            <a:ext cx="8794750" cy="91757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C7D8B-10D2-2133-F08F-266FA09AD87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F3EDC-58FE-7AC5-F13A-6FDE8EDA83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6758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-bleed Photo, Section, Titl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E21AB-8C85-5F58-60F8-E68917124A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97038" y="-7937"/>
            <a:ext cx="8794750" cy="466344"/>
          </a:xfrm>
        </p:spPr>
        <p:txBody>
          <a:bodyPr anchor="b" anchorCtr="0"/>
          <a:lstStyle>
            <a:lvl1pPr marL="0" indent="0" algn="ctr">
              <a:buNone/>
              <a:defRPr sz="1200"/>
            </a:lvl1pPr>
            <a:lvl2pPr algn="ctr">
              <a:defRPr sz="1400"/>
            </a:lvl2pPr>
            <a:lvl3pPr algn="ctr">
              <a:defRPr sz="1200"/>
            </a:lvl3pPr>
            <a:lvl4pPr algn="ctr">
              <a:defRPr sz="1100"/>
            </a:lvl4pPr>
            <a:lvl5pPr algn="ctr">
              <a:defRPr sz="1050"/>
            </a:lvl5pPr>
          </a:lstStyle>
          <a:p>
            <a:pPr lvl="0"/>
            <a:r>
              <a:rPr lang="en-US" dirty="0"/>
              <a:t>Section title placeholder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038" y="952500"/>
            <a:ext cx="8794750" cy="91757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C7D8B-10D2-2133-F08F-266FA09AD87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F3EDC-58FE-7AC5-F13A-6FDE8EDA83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5256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pper 2/3 Photo, Section,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-7937"/>
            <a:ext cx="12192000" cy="4675188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37160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E21AB-8C85-5F58-60F8-E68917124A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-7937"/>
            <a:ext cx="8612188" cy="466344"/>
          </a:xfrm>
        </p:spPr>
        <p:txBody>
          <a:bodyPr anchor="b" anchorCtr="0"/>
          <a:lstStyle>
            <a:lvl1pPr marL="0" indent="0" algn="l">
              <a:buNone/>
              <a:defRPr sz="1200"/>
            </a:lvl1pPr>
            <a:lvl2pPr algn="ctr">
              <a:defRPr sz="1400"/>
            </a:lvl2pPr>
            <a:lvl3pPr algn="ctr">
              <a:defRPr sz="1200"/>
            </a:lvl3pPr>
            <a:lvl4pPr algn="ctr">
              <a:defRPr sz="1100"/>
            </a:lvl4pPr>
            <a:lvl5pPr algn="ctr">
              <a:defRPr sz="1050"/>
            </a:lvl5pPr>
          </a:lstStyle>
          <a:p>
            <a:pPr lvl="0"/>
            <a:r>
              <a:rPr lang="en-US" dirty="0"/>
              <a:t>Section title placeholder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5003800"/>
            <a:ext cx="8612188" cy="107156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C7D8B-10D2-2133-F08F-266FA09AD87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F3EDC-58FE-7AC5-F13A-6FDE8EDA83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6049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4" descr="Quotation Mark">
            <a:extLst>
              <a:ext uri="{FF2B5EF4-FFF2-40B4-BE49-F238E27FC236}">
                <a16:creationId xmlns:a16="http://schemas.microsoft.com/office/drawing/2014/main" id="{4B52BC46-48EA-B916-39B5-C5FF3FB612BC}"/>
              </a:ext>
            </a:extLst>
          </p:cNvPr>
          <p:cNvSpPr/>
          <p:nvPr/>
        </p:nvSpPr>
        <p:spPr>
          <a:xfrm>
            <a:off x="5731161" y="1132840"/>
            <a:ext cx="516694" cy="416701"/>
          </a:xfrm>
          <a:custGeom>
            <a:avLst/>
            <a:gdLst>
              <a:gd name="connsiteX0" fmla="*/ 418890 w 728197"/>
              <a:gd name="connsiteY0" fmla="*/ 587273 h 587273"/>
              <a:gd name="connsiteX1" fmla="*/ 383998 w 728197"/>
              <a:gd name="connsiteY1" fmla="*/ 552884 h 587273"/>
              <a:gd name="connsiteX2" fmla="*/ 383998 w 728197"/>
              <a:gd name="connsiteY2" fmla="*/ 552793 h 587273"/>
              <a:gd name="connsiteX3" fmla="*/ 383998 w 728197"/>
              <a:gd name="connsiteY3" fmla="*/ 367917 h 587273"/>
              <a:gd name="connsiteX4" fmla="*/ 513570 w 728197"/>
              <a:gd name="connsiteY4" fmla="*/ 79508 h 587273"/>
              <a:gd name="connsiteX5" fmla="*/ 728198 w 728197"/>
              <a:gd name="connsiteY5" fmla="*/ 0 h 587273"/>
              <a:gd name="connsiteX6" fmla="*/ 728198 w 728197"/>
              <a:gd name="connsiteY6" fmla="*/ 134713 h 587273"/>
              <a:gd name="connsiteX7" fmla="*/ 583354 w 728197"/>
              <a:gd name="connsiteY7" fmla="*/ 316104 h 587273"/>
              <a:gd name="connsiteX8" fmla="*/ 658414 w 728197"/>
              <a:gd name="connsiteY8" fmla="*/ 316104 h 587273"/>
              <a:gd name="connsiteX9" fmla="*/ 693398 w 728197"/>
              <a:gd name="connsiteY9" fmla="*/ 350585 h 587273"/>
              <a:gd name="connsiteX10" fmla="*/ 693398 w 728197"/>
              <a:gd name="connsiteY10" fmla="*/ 350677 h 587273"/>
              <a:gd name="connsiteX11" fmla="*/ 693398 w 728197"/>
              <a:gd name="connsiteY11" fmla="*/ 552426 h 587273"/>
              <a:gd name="connsiteX12" fmla="*/ 658599 w 728197"/>
              <a:gd name="connsiteY12" fmla="*/ 586907 h 587273"/>
              <a:gd name="connsiteX13" fmla="*/ 658506 w 728197"/>
              <a:gd name="connsiteY13" fmla="*/ 586907 h 587273"/>
              <a:gd name="connsiteX14" fmla="*/ 34892 w 728197"/>
              <a:gd name="connsiteY14" fmla="*/ 587273 h 587273"/>
              <a:gd name="connsiteX15" fmla="*/ 0 w 728197"/>
              <a:gd name="connsiteY15" fmla="*/ 552884 h 587273"/>
              <a:gd name="connsiteX16" fmla="*/ 0 w 728197"/>
              <a:gd name="connsiteY16" fmla="*/ 552793 h 587273"/>
              <a:gd name="connsiteX17" fmla="*/ 0 w 728197"/>
              <a:gd name="connsiteY17" fmla="*/ 367917 h 587273"/>
              <a:gd name="connsiteX18" fmla="*/ 129573 w 728197"/>
              <a:gd name="connsiteY18" fmla="*/ 79508 h 587273"/>
              <a:gd name="connsiteX19" fmla="*/ 344200 w 728197"/>
              <a:gd name="connsiteY19" fmla="*/ 0 h 587273"/>
              <a:gd name="connsiteX20" fmla="*/ 344200 w 728197"/>
              <a:gd name="connsiteY20" fmla="*/ 134713 h 587273"/>
              <a:gd name="connsiteX21" fmla="*/ 198986 w 728197"/>
              <a:gd name="connsiteY21" fmla="*/ 316104 h 587273"/>
              <a:gd name="connsiteX22" fmla="*/ 274046 w 728197"/>
              <a:gd name="connsiteY22" fmla="*/ 316104 h 587273"/>
              <a:gd name="connsiteX23" fmla="*/ 308938 w 728197"/>
              <a:gd name="connsiteY23" fmla="*/ 350677 h 587273"/>
              <a:gd name="connsiteX24" fmla="*/ 308938 w 728197"/>
              <a:gd name="connsiteY24" fmla="*/ 552426 h 587273"/>
              <a:gd name="connsiteX25" fmla="*/ 274138 w 728197"/>
              <a:gd name="connsiteY25" fmla="*/ 586907 h 587273"/>
              <a:gd name="connsiteX26" fmla="*/ 274046 w 728197"/>
              <a:gd name="connsiteY26" fmla="*/ 586907 h 587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28197" h="587273">
                <a:moveTo>
                  <a:pt x="418890" y="587273"/>
                </a:moveTo>
                <a:cubicBezTo>
                  <a:pt x="399670" y="587324"/>
                  <a:pt x="384048" y="571928"/>
                  <a:pt x="383998" y="552884"/>
                </a:cubicBezTo>
                <a:cubicBezTo>
                  <a:pt x="383998" y="552854"/>
                  <a:pt x="383998" y="552823"/>
                  <a:pt x="383998" y="552793"/>
                </a:cubicBezTo>
                <a:lnTo>
                  <a:pt x="383998" y="367917"/>
                </a:lnTo>
                <a:cubicBezTo>
                  <a:pt x="383998" y="240082"/>
                  <a:pt x="427189" y="143945"/>
                  <a:pt x="513570" y="79508"/>
                </a:cubicBezTo>
                <a:cubicBezTo>
                  <a:pt x="571693" y="35795"/>
                  <a:pt x="643235" y="9292"/>
                  <a:pt x="728198" y="0"/>
                </a:cubicBezTo>
                <a:lnTo>
                  <a:pt x="728198" y="134713"/>
                </a:lnTo>
                <a:cubicBezTo>
                  <a:pt x="631694" y="155439"/>
                  <a:pt x="583419" y="215902"/>
                  <a:pt x="583354" y="316104"/>
                </a:cubicBezTo>
                <a:lnTo>
                  <a:pt x="658414" y="316104"/>
                </a:lnTo>
                <a:cubicBezTo>
                  <a:pt x="677683" y="316054"/>
                  <a:pt x="693343" y="331491"/>
                  <a:pt x="693398" y="350585"/>
                </a:cubicBezTo>
                <a:cubicBezTo>
                  <a:pt x="693398" y="350615"/>
                  <a:pt x="693398" y="350646"/>
                  <a:pt x="693398" y="350677"/>
                </a:cubicBezTo>
                <a:lnTo>
                  <a:pt x="693398" y="552426"/>
                </a:lnTo>
                <a:cubicBezTo>
                  <a:pt x="693398" y="571469"/>
                  <a:pt x="677822" y="586907"/>
                  <a:pt x="658599" y="586907"/>
                </a:cubicBezTo>
                <a:cubicBezTo>
                  <a:pt x="658571" y="586907"/>
                  <a:pt x="658534" y="586907"/>
                  <a:pt x="658506" y="586907"/>
                </a:cubicBezTo>
                <a:close/>
                <a:moveTo>
                  <a:pt x="34892" y="587273"/>
                </a:moveTo>
                <a:cubicBezTo>
                  <a:pt x="15673" y="587324"/>
                  <a:pt x="51" y="571928"/>
                  <a:pt x="0" y="552884"/>
                </a:cubicBezTo>
                <a:cubicBezTo>
                  <a:pt x="0" y="552854"/>
                  <a:pt x="0" y="552823"/>
                  <a:pt x="0" y="552793"/>
                </a:cubicBezTo>
                <a:lnTo>
                  <a:pt x="0" y="367917"/>
                </a:lnTo>
                <a:cubicBezTo>
                  <a:pt x="0" y="240082"/>
                  <a:pt x="43191" y="143945"/>
                  <a:pt x="129573" y="79508"/>
                </a:cubicBezTo>
                <a:cubicBezTo>
                  <a:pt x="187695" y="35795"/>
                  <a:pt x="259238" y="9292"/>
                  <a:pt x="344200" y="0"/>
                </a:cubicBezTo>
                <a:lnTo>
                  <a:pt x="344200" y="134713"/>
                </a:lnTo>
                <a:cubicBezTo>
                  <a:pt x="247391" y="155439"/>
                  <a:pt x="198986" y="215902"/>
                  <a:pt x="198986" y="316104"/>
                </a:cubicBezTo>
                <a:lnTo>
                  <a:pt x="274046" y="316104"/>
                </a:lnTo>
                <a:cubicBezTo>
                  <a:pt x="293316" y="316104"/>
                  <a:pt x="308938" y="331583"/>
                  <a:pt x="308938" y="350677"/>
                </a:cubicBezTo>
                <a:lnTo>
                  <a:pt x="308938" y="552426"/>
                </a:lnTo>
                <a:cubicBezTo>
                  <a:pt x="308938" y="571469"/>
                  <a:pt x="293358" y="586907"/>
                  <a:pt x="274138" y="586907"/>
                </a:cubicBezTo>
                <a:cubicBezTo>
                  <a:pt x="274108" y="586907"/>
                  <a:pt x="274076" y="586907"/>
                  <a:pt x="274046" y="586907"/>
                </a:cubicBezTo>
                <a:close/>
              </a:path>
            </a:pathLst>
          </a:custGeom>
          <a:noFill/>
          <a:ln w="15875" cap="flat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2700000" scaled="1"/>
              <a:tileRect/>
            </a:gra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368BC5-9F97-A637-CA24-35B03B63AA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97038" y="1876424"/>
            <a:ext cx="8794750" cy="2174875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dirty="0"/>
              <a:t>Quote slide 1, </a:t>
            </a: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nonummy</a:t>
            </a:r>
            <a:r>
              <a:rPr lang="en-GB" dirty="0"/>
              <a:t> </a:t>
            </a:r>
            <a:r>
              <a:rPr lang="en-GB" dirty="0" err="1"/>
              <a:t>nibh</a:t>
            </a:r>
            <a:r>
              <a:rPr lang="en-GB" dirty="0"/>
              <a:t> </a:t>
            </a:r>
            <a:r>
              <a:rPr lang="en-GB" dirty="0" err="1"/>
              <a:t>euismod</a:t>
            </a:r>
            <a:r>
              <a:rPr lang="en-GB" dirty="0"/>
              <a:t>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laoreet</a:t>
            </a:r>
            <a:r>
              <a:rPr lang="en-GB" dirty="0"/>
              <a:t> dolore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E765B2C-5060-1909-C557-ADA0DD5D99D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97038" y="4360863"/>
            <a:ext cx="8794750" cy="625475"/>
          </a:xfrm>
        </p:spPr>
        <p:txBody>
          <a:bodyPr/>
          <a:lstStyle>
            <a:lvl1pPr marL="0" indent="0" algn="ctr">
              <a:lnSpc>
                <a:spcPct val="110000"/>
              </a:lnSpc>
              <a:spcAft>
                <a:spcPts val="0"/>
              </a:spcAft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Role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CFFC5C-7657-95D9-3E3C-A05AC680CB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99777-CA26-AFF0-62B3-9D957F6FDE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290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4" descr="Quotation Mark">
            <a:extLst>
              <a:ext uri="{FF2B5EF4-FFF2-40B4-BE49-F238E27FC236}">
                <a16:creationId xmlns:a16="http://schemas.microsoft.com/office/drawing/2014/main" id="{4B52BC46-48EA-B916-39B5-C5FF3FB612BC}"/>
              </a:ext>
            </a:extLst>
          </p:cNvPr>
          <p:cNvSpPr/>
          <p:nvPr/>
        </p:nvSpPr>
        <p:spPr>
          <a:xfrm>
            <a:off x="5731161" y="963295"/>
            <a:ext cx="516694" cy="416701"/>
          </a:xfrm>
          <a:custGeom>
            <a:avLst/>
            <a:gdLst>
              <a:gd name="connsiteX0" fmla="*/ 418890 w 728197"/>
              <a:gd name="connsiteY0" fmla="*/ 587273 h 587273"/>
              <a:gd name="connsiteX1" fmla="*/ 383998 w 728197"/>
              <a:gd name="connsiteY1" fmla="*/ 552884 h 587273"/>
              <a:gd name="connsiteX2" fmla="*/ 383998 w 728197"/>
              <a:gd name="connsiteY2" fmla="*/ 552793 h 587273"/>
              <a:gd name="connsiteX3" fmla="*/ 383998 w 728197"/>
              <a:gd name="connsiteY3" fmla="*/ 367917 h 587273"/>
              <a:gd name="connsiteX4" fmla="*/ 513570 w 728197"/>
              <a:gd name="connsiteY4" fmla="*/ 79508 h 587273"/>
              <a:gd name="connsiteX5" fmla="*/ 728198 w 728197"/>
              <a:gd name="connsiteY5" fmla="*/ 0 h 587273"/>
              <a:gd name="connsiteX6" fmla="*/ 728198 w 728197"/>
              <a:gd name="connsiteY6" fmla="*/ 134713 h 587273"/>
              <a:gd name="connsiteX7" fmla="*/ 583354 w 728197"/>
              <a:gd name="connsiteY7" fmla="*/ 316104 h 587273"/>
              <a:gd name="connsiteX8" fmla="*/ 658414 w 728197"/>
              <a:gd name="connsiteY8" fmla="*/ 316104 h 587273"/>
              <a:gd name="connsiteX9" fmla="*/ 693398 w 728197"/>
              <a:gd name="connsiteY9" fmla="*/ 350585 h 587273"/>
              <a:gd name="connsiteX10" fmla="*/ 693398 w 728197"/>
              <a:gd name="connsiteY10" fmla="*/ 350677 h 587273"/>
              <a:gd name="connsiteX11" fmla="*/ 693398 w 728197"/>
              <a:gd name="connsiteY11" fmla="*/ 552426 h 587273"/>
              <a:gd name="connsiteX12" fmla="*/ 658599 w 728197"/>
              <a:gd name="connsiteY12" fmla="*/ 586907 h 587273"/>
              <a:gd name="connsiteX13" fmla="*/ 658506 w 728197"/>
              <a:gd name="connsiteY13" fmla="*/ 586907 h 587273"/>
              <a:gd name="connsiteX14" fmla="*/ 34892 w 728197"/>
              <a:gd name="connsiteY14" fmla="*/ 587273 h 587273"/>
              <a:gd name="connsiteX15" fmla="*/ 0 w 728197"/>
              <a:gd name="connsiteY15" fmla="*/ 552884 h 587273"/>
              <a:gd name="connsiteX16" fmla="*/ 0 w 728197"/>
              <a:gd name="connsiteY16" fmla="*/ 552793 h 587273"/>
              <a:gd name="connsiteX17" fmla="*/ 0 w 728197"/>
              <a:gd name="connsiteY17" fmla="*/ 367917 h 587273"/>
              <a:gd name="connsiteX18" fmla="*/ 129573 w 728197"/>
              <a:gd name="connsiteY18" fmla="*/ 79508 h 587273"/>
              <a:gd name="connsiteX19" fmla="*/ 344200 w 728197"/>
              <a:gd name="connsiteY19" fmla="*/ 0 h 587273"/>
              <a:gd name="connsiteX20" fmla="*/ 344200 w 728197"/>
              <a:gd name="connsiteY20" fmla="*/ 134713 h 587273"/>
              <a:gd name="connsiteX21" fmla="*/ 198986 w 728197"/>
              <a:gd name="connsiteY21" fmla="*/ 316104 h 587273"/>
              <a:gd name="connsiteX22" fmla="*/ 274046 w 728197"/>
              <a:gd name="connsiteY22" fmla="*/ 316104 h 587273"/>
              <a:gd name="connsiteX23" fmla="*/ 308938 w 728197"/>
              <a:gd name="connsiteY23" fmla="*/ 350677 h 587273"/>
              <a:gd name="connsiteX24" fmla="*/ 308938 w 728197"/>
              <a:gd name="connsiteY24" fmla="*/ 552426 h 587273"/>
              <a:gd name="connsiteX25" fmla="*/ 274138 w 728197"/>
              <a:gd name="connsiteY25" fmla="*/ 586907 h 587273"/>
              <a:gd name="connsiteX26" fmla="*/ 274046 w 728197"/>
              <a:gd name="connsiteY26" fmla="*/ 586907 h 587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28197" h="587273">
                <a:moveTo>
                  <a:pt x="418890" y="587273"/>
                </a:moveTo>
                <a:cubicBezTo>
                  <a:pt x="399670" y="587324"/>
                  <a:pt x="384048" y="571928"/>
                  <a:pt x="383998" y="552884"/>
                </a:cubicBezTo>
                <a:cubicBezTo>
                  <a:pt x="383998" y="552854"/>
                  <a:pt x="383998" y="552823"/>
                  <a:pt x="383998" y="552793"/>
                </a:cubicBezTo>
                <a:lnTo>
                  <a:pt x="383998" y="367917"/>
                </a:lnTo>
                <a:cubicBezTo>
                  <a:pt x="383998" y="240082"/>
                  <a:pt x="427189" y="143945"/>
                  <a:pt x="513570" y="79508"/>
                </a:cubicBezTo>
                <a:cubicBezTo>
                  <a:pt x="571693" y="35795"/>
                  <a:pt x="643235" y="9292"/>
                  <a:pt x="728198" y="0"/>
                </a:cubicBezTo>
                <a:lnTo>
                  <a:pt x="728198" y="134713"/>
                </a:lnTo>
                <a:cubicBezTo>
                  <a:pt x="631694" y="155439"/>
                  <a:pt x="583419" y="215902"/>
                  <a:pt x="583354" y="316104"/>
                </a:cubicBezTo>
                <a:lnTo>
                  <a:pt x="658414" y="316104"/>
                </a:lnTo>
                <a:cubicBezTo>
                  <a:pt x="677683" y="316054"/>
                  <a:pt x="693343" y="331491"/>
                  <a:pt x="693398" y="350585"/>
                </a:cubicBezTo>
                <a:cubicBezTo>
                  <a:pt x="693398" y="350615"/>
                  <a:pt x="693398" y="350646"/>
                  <a:pt x="693398" y="350677"/>
                </a:cubicBezTo>
                <a:lnTo>
                  <a:pt x="693398" y="552426"/>
                </a:lnTo>
                <a:cubicBezTo>
                  <a:pt x="693398" y="571469"/>
                  <a:pt x="677822" y="586907"/>
                  <a:pt x="658599" y="586907"/>
                </a:cubicBezTo>
                <a:cubicBezTo>
                  <a:pt x="658571" y="586907"/>
                  <a:pt x="658534" y="586907"/>
                  <a:pt x="658506" y="586907"/>
                </a:cubicBezTo>
                <a:close/>
                <a:moveTo>
                  <a:pt x="34892" y="587273"/>
                </a:moveTo>
                <a:cubicBezTo>
                  <a:pt x="15673" y="587324"/>
                  <a:pt x="51" y="571928"/>
                  <a:pt x="0" y="552884"/>
                </a:cubicBezTo>
                <a:cubicBezTo>
                  <a:pt x="0" y="552854"/>
                  <a:pt x="0" y="552823"/>
                  <a:pt x="0" y="552793"/>
                </a:cubicBezTo>
                <a:lnTo>
                  <a:pt x="0" y="367917"/>
                </a:lnTo>
                <a:cubicBezTo>
                  <a:pt x="0" y="240082"/>
                  <a:pt x="43191" y="143945"/>
                  <a:pt x="129573" y="79508"/>
                </a:cubicBezTo>
                <a:cubicBezTo>
                  <a:pt x="187695" y="35795"/>
                  <a:pt x="259238" y="9292"/>
                  <a:pt x="344200" y="0"/>
                </a:cubicBezTo>
                <a:lnTo>
                  <a:pt x="344200" y="134713"/>
                </a:lnTo>
                <a:cubicBezTo>
                  <a:pt x="247391" y="155439"/>
                  <a:pt x="198986" y="215902"/>
                  <a:pt x="198986" y="316104"/>
                </a:cubicBezTo>
                <a:lnTo>
                  <a:pt x="274046" y="316104"/>
                </a:lnTo>
                <a:cubicBezTo>
                  <a:pt x="293316" y="316104"/>
                  <a:pt x="308938" y="331583"/>
                  <a:pt x="308938" y="350677"/>
                </a:cubicBezTo>
                <a:lnTo>
                  <a:pt x="308938" y="552426"/>
                </a:lnTo>
                <a:cubicBezTo>
                  <a:pt x="308938" y="571469"/>
                  <a:pt x="293358" y="586907"/>
                  <a:pt x="274138" y="586907"/>
                </a:cubicBezTo>
                <a:cubicBezTo>
                  <a:pt x="274108" y="586907"/>
                  <a:pt x="274076" y="586907"/>
                  <a:pt x="274046" y="586907"/>
                </a:cubicBezTo>
                <a:close/>
              </a:path>
            </a:pathLst>
          </a:custGeom>
          <a:noFill/>
          <a:ln w="15875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368BC5-9F97-A637-CA24-35B03B63AA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97038" y="1706879"/>
            <a:ext cx="8794750" cy="2174875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dirty="0"/>
              <a:t>Quote slide 1, </a:t>
            </a: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nonummy</a:t>
            </a:r>
            <a:r>
              <a:rPr lang="en-GB" dirty="0"/>
              <a:t> </a:t>
            </a:r>
            <a:r>
              <a:rPr lang="en-GB" dirty="0" err="1"/>
              <a:t>nibh</a:t>
            </a:r>
            <a:r>
              <a:rPr lang="en-GB" dirty="0"/>
              <a:t> </a:t>
            </a:r>
            <a:r>
              <a:rPr lang="en-GB" dirty="0" err="1"/>
              <a:t>euismod</a:t>
            </a:r>
            <a:r>
              <a:rPr lang="en-GB" dirty="0"/>
              <a:t>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laoreet</a:t>
            </a:r>
            <a:r>
              <a:rPr lang="en-GB" dirty="0"/>
              <a:t> dolore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E765B2C-5060-1909-C557-ADA0DD5D99D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97038" y="4191318"/>
            <a:ext cx="8794750" cy="625475"/>
          </a:xfrm>
        </p:spPr>
        <p:txBody>
          <a:bodyPr/>
          <a:lstStyle>
            <a:lvl1pPr marL="0" indent="0" algn="ctr">
              <a:lnSpc>
                <a:spcPct val="110000"/>
              </a:lnSpc>
              <a:spcAft>
                <a:spcPts val="0"/>
              </a:spcAft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Role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CFFC5C-7657-95D9-3E3C-A05AC680CB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99777-CA26-AFF0-62B3-9D957F6FDE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7775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68BC5-9F97-A637-CA24-35B03B63AA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1244600"/>
            <a:ext cx="5373688" cy="3167380"/>
          </a:xfrm>
        </p:spPr>
        <p:txBody>
          <a:bodyPr/>
          <a:lstStyle>
            <a:lvl1pPr algn="l">
              <a:defRPr sz="4000"/>
            </a:lvl1pPr>
          </a:lstStyle>
          <a:p>
            <a:r>
              <a:rPr lang="en-US" dirty="0"/>
              <a:t>“Quote slide 1, </a:t>
            </a: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no </a:t>
            </a:r>
            <a:r>
              <a:rPr lang="en-GB" dirty="0" err="1"/>
              <a:t>nummy</a:t>
            </a:r>
            <a:r>
              <a:rPr lang="en-GB" dirty="0"/>
              <a:t> </a:t>
            </a:r>
            <a:r>
              <a:rPr lang="en-GB" dirty="0" err="1"/>
              <a:t>nibh</a:t>
            </a:r>
            <a:r>
              <a:rPr lang="en-GB" dirty="0"/>
              <a:t> </a:t>
            </a:r>
            <a:r>
              <a:rPr lang="en-GB" dirty="0" err="1"/>
              <a:t>euismod</a:t>
            </a:r>
            <a:r>
              <a:rPr lang="en-GB" dirty="0"/>
              <a:t>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laoreet</a:t>
            </a:r>
            <a:r>
              <a:rPr lang="en-GB" dirty="0"/>
              <a:t>”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E765B2C-5060-1909-C557-ADA0DD5D99D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0" y="4726305"/>
            <a:ext cx="5373688" cy="673417"/>
          </a:xfrm>
        </p:spPr>
        <p:txBody>
          <a:bodyPr/>
          <a:lstStyle>
            <a:lvl1pPr marL="0" indent="0" algn="l">
              <a:spcAft>
                <a:spcPts val="0"/>
              </a:spcAft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Role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CFFC5C-7657-95D9-3E3C-A05AC680CB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99777-CA26-AFF0-62B3-9D957F6FDE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381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, Title, Body Copy, Graphic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EFB629D-1461-3E6E-194F-1E2781C58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8146"/>
            <a:ext cx="5683250" cy="94645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02D1E1-C16C-597A-29F4-4F0B590395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1555750"/>
            <a:ext cx="5683250" cy="923925"/>
          </a:xfrm>
        </p:spPr>
        <p:txBody>
          <a:bodyPr/>
          <a:lstStyle>
            <a:lvl1pPr marL="0" indent="0">
              <a:buNone/>
              <a:defRPr sz="1800" b="0"/>
            </a:lvl1pPr>
            <a:lvl2pPr marL="182880" indent="0">
              <a:buNone/>
              <a:defRPr sz="1600" b="0"/>
            </a:lvl2pPr>
            <a:lvl3pPr marL="365760" indent="0">
              <a:buNone/>
              <a:defRPr sz="1400" b="0"/>
            </a:lvl3pPr>
            <a:lvl4pPr marL="548640" indent="0">
              <a:buNone/>
              <a:defRPr sz="1200" b="0"/>
            </a:lvl4pPr>
            <a:lvl5pPr marL="731520" indent="0">
              <a:buNone/>
              <a:defRPr sz="1100" b="0"/>
            </a:lvl5pPr>
          </a:lstStyle>
          <a:p>
            <a:pPr lvl="0"/>
            <a:r>
              <a:rPr lang="en-US" dirty="0"/>
              <a:t>Body copy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599622-5FA2-FEEE-3C33-0A896ADDB12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2944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C50E13-06E5-F6BB-7667-EE8E9893D0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005315C-F3C4-4817-6DB5-825E9E8E9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798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Char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9" name="Chart Placeholder 8">
            <a:extLst>
              <a:ext uri="{FF2B5EF4-FFF2-40B4-BE49-F238E27FC236}">
                <a16:creationId xmlns:a16="http://schemas.microsoft.com/office/drawing/2014/main" id="{BD67761C-12AC-06B4-1032-66C47B765FE0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722313" y="1555750"/>
            <a:ext cx="10747375" cy="4519613"/>
          </a:xfrm>
        </p:spPr>
        <p:txBody>
          <a:bodyPr tIns="9144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below to add a chart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3533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Tab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B0E688F9-03DF-D354-A8AF-EF5349F39C6B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323850" y="1555750"/>
            <a:ext cx="11544300" cy="4519613"/>
          </a:xfrm>
        </p:spPr>
        <p:txBody>
          <a:bodyPr tIns="9144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below to add a table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4719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 Title,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89EC94CF-F758-4A7C-3B39-A1EFC1EA815A}"/>
              </a:ext>
            </a:extLst>
          </p:cNvPr>
          <p:cNvSpPr>
            <a:spLocks noGrp="1"/>
          </p:cNvSpPr>
          <p:nvPr>
            <p:ph type="chart" sz="quarter" idx="12" hasCustomPrompt="1"/>
          </p:nvPr>
        </p:nvSpPr>
        <p:spPr>
          <a:xfrm>
            <a:off x="6581775" y="952500"/>
            <a:ext cx="4887913" cy="4968875"/>
          </a:xfrm>
        </p:spPr>
        <p:txBody>
          <a:bodyPr tIns="9144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below to add chart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615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1, Title, Sub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E0C9451-8976-3C96-3C4E-F9624BB3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8063" y="952500"/>
            <a:ext cx="7634288" cy="2476500"/>
          </a:xfrm>
        </p:spPr>
        <p:txBody>
          <a:bodyPr anchor="b" anchorCtr="0"/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D4A8F9-F7CA-7BED-9594-D64F51EE92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278063" y="3738563"/>
            <a:ext cx="7634287" cy="936625"/>
          </a:xfrm>
        </p:spPr>
        <p:txBody>
          <a:bodyPr/>
          <a:lstStyle>
            <a:lvl1pPr marL="0" indent="0" algn="ctr">
              <a:buNone/>
              <a:defRPr/>
            </a:lvl1pPr>
            <a:lvl2pPr marL="182880" indent="0" algn="ctr">
              <a:buNone/>
              <a:defRPr/>
            </a:lvl2pPr>
            <a:lvl3pPr marL="365760" indent="0" algn="ctr">
              <a:buNone/>
              <a:defRPr/>
            </a:lvl3pPr>
            <a:lvl4pPr marL="548640" indent="0" algn="ctr">
              <a:buNone/>
              <a:defRPr/>
            </a:lvl4pPr>
            <a:lvl5pPr marL="731520" indent="0" algn="ct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3146B2-9533-23DF-7DA9-0EBFD969778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D4EDA1-89C5-8341-7EDE-FCCAAA0607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4313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Statement 1, Title, Sub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BE3366F-F43E-6996-B128-0A001300FD2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 tIns="27432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76B6A35-8740-9D1E-A189-71BC5C742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8063" y="952500"/>
            <a:ext cx="7634288" cy="1537465"/>
          </a:xfrm>
        </p:spPr>
        <p:txBody>
          <a:bodyPr anchor="b" anchorCtr="0"/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D4A8F9-F7CA-7BED-9594-D64F51EE92B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278063" y="2492374"/>
            <a:ext cx="7634287" cy="311152"/>
          </a:xfrm>
        </p:spPr>
        <p:txBody>
          <a:bodyPr/>
          <a:lstStyle>
            <a:lvl1pPr marL="0" indent="0" algn="ctr">
              <a:buNone/>
              <a:defRPr/>
            </a:lvl1pPr>
            <a:lvl2pPr marL="182880" indent="0" algn="ctr">
              <a:buNone/>
              <a:defRPr/>
            </a:lvl2pPr>
            <a:lvl3pPr marL="365760" indent="0" algn="ctr">
              <a:buNone/>
              <a:defRPr/>
            </a:lvl3pPr>
            <a:lvl4pPr marL="548640" indent="0" algn="ctr">
              <a:buNone/>
              <a:defRPr/>
            </a:lvl4pPr>
            <a:lvl5pPr marL="731520" indent="0" algn="ct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703969-9100-4398-1394-9B9B34222C6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CFB270-12CC-4B92-85FD-B7710644F26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498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gu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885A1-2C43-8640-F232-FC5413728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492231"/>
            <a:ext cx="7634288" cy="1870075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4528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gu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DF17AB4-9E08-0A74-D302-44EB1D55B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492375"/>
            <a:ext cx="7634288" cy="1868488"/>
          </a:xfrm>
        </p:spPr>
        <p:txBody>
          <a:bodyPr wrap="square" anchor="ctr" anchorCtr="0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102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gu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1CEAE-269F-9001-82E1-E63AB4812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492375"/>
            <a:ext cx="7634288" cy="1868487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3240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gue 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1CEAE-269F-9001-82E1-E63AB4812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492375"/>
            <a:ext cx="7235825" cy="1868487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68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25412D7-A614-E163-F131-6847698E77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244601"/>
            <a:ext cx="10888663" cy="4367212"/>
          </a:xfrm>
          <a:prstGeom prst="rect">
            <a:avLst/>
          </a:prstGeom>
          <a:solidFill>
            <a:schemeClr val="tx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BFD99A5-A6E1-0514-02DB-84C6BD1878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3114676"/>
            <a:ext cx="2749550" cy="623888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en-US" dirty="0"/>
              <a:t>Thank you</a:t>
            </a:r>
          </a:p>
        </p:txBody>
      </p:sp>
      <p:pic>
        <p:nvPicPr>
          <p:cNvPr id="18" name="Picture 7" descr="Cisco logo">
            <a:extLst>
              <a:ext uri="{FF2B5EF4-FFF2-40B4-BE49-F238E27FC236}">
                <a16:creationId xmlns:a16="http://schemas.microsoft.com/office/drawing/2014/main" id="{56775E76-582E-6CCC-1676-4F670B0BFC5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058274" y="3188776"/>
            <a:ext cx="914400" cy="480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80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BFD99A5-A6E1-0514-02DB-84C6BD1878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3114676"/>
            <a:ext cx="2749550" cy="623888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017748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aphic 2" descr="Cisco logo">
            <a:extLst>
              <a:ext uri="{FF2B5EF4-FFF2-40B4-BE49-F238E27FC236}">
                <a16:creationId xmlns:a16="http://schemas.microsoft.com/office/drawing/2014/main" id="{9A32CA38-C4CF-D4BC-78F1-F151F8F9799C}"/>
              </a:ext>
            </a:extLst>
          </p:cNvPr>
          <p:cNvGrpSpPr>
            <a:grpSpLocks noChangeAspect="1"/>
          </p:cNvGrpSpPr>
          <p:nvPr/>
        </p:nvGrpSpPr>
        <p:grpSpPr>
          <a:xfrm>
            <a:off x="5487122" y="2978332"/>
            <a:ext cx="1217756" cy="640080"/>
            <a:chOff x="7202835" y="2919593"/>
            <a:chExt cx="1014444" cy="533215"/>
          </a:xfrm>
          <a:solidFill>
            <a:schemeClr val="bg1"/>
          </a:solidFill>
        </p:grpSpPr>
        <p:sp>
          <p:nvSpPr>
            <p:cNvPr id="4" name="Freeform 24">
              <a:extLst>
                <a:ext uri="{FF2B5EF4-FFF2-40B4-BE49-F238E27FC236}">
                  <a16:creationId xmlns:a16="http://schemas.microsoft.com/office/drawing/2014/main" id="{0848F511-CD0C-4E21-1411-CA7D0F6E3A43}"/>
                </a:ext>
              </a:extLst>
            </p:cNvPr>
            <p:cNvSpPr/>
            <p:nvPr/>
          </p:nvSpPr>
          <p:spPr>
            <a:xfrm>
              <a:off x="7489875" y="3273956"/>
              <a:ext cx="44467" cy="175170"/>
            </a:xfrm>
            <a:custGeom>
              <a:avLst/>
              <a:gdLst>
                <a:gd name="connsiteX0" fmla="*/ 0 w 44467"/>
                <a:gd name="connsiteY0" fmla="*/ 0 h 175170"/>
                <a:gd name="connsiteX1" fmla="*/ 44467 w 44467"/>
                <a:gd name="connsiteY1" fmla="*/ 0 h 175170"/>
                <a:gd name="connsiteX2" fmla="*/ 44467 w 44467"/>
                <a:gd name="connsiteY2" fmla="*/ 175170 h 175170"/>
                <a:gd name="connsiteX3" fmla="*/ 0 w 44467"/>
                <a:gd name="connsiteY3" fmla="*/ 175170 h 175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67" h="175170">
                  <a:moveTo>
                    <a:pt x="0" y="0"/>
                  </a:moveTo>
                  <a:lnTo>
                    <a:pt x="44467" y="0"/>
                  </a:lnTo>
                  <a:lnTo>
                    <a:pt x="44467" y="175170"/>
                  </a:lnTo>
                  <a:lnTo>
                    <a:pt x="0" y="175170"/>
                  </a:lnTo>
                  <a:close/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5" name="Freeform 25">
              <a:extLst>
                <a:ext uri="{FF2B5EF4-FFF2-40B4-BE49-F238E27FC236}">
                  <a16:creationId xmlns:a16="http://schemas.microsoft.com/office/drawing/2014/main" id="{CE7BD058-D0FF-047D-F5E7-7A0A610E086D}"/>
                </a:ext>
              </a:extLst>
            </p:cNvPr>
            <p:cNvSpPr/>
            <p:nvPr/>
          </p:nvSpPr>
          <p:spPr>
            <a:xfrm>
              <a:off x="7758493" y="3270889"/>
              <a:ext cx="134399" cy="181394"/>
            </a:xfrm>
            <a:custGeom>
              <a:avLst/>
              <a:gdLst>
                <a:gd name="connsiteX0" fmla="*/ 0 w 134399"/>
                <a:gd name="connsiteY0" fmla="*/ 90652 h 181394"/>
                <a:gd name="connsiteX1" fmla="*/ 93835 w 134399"/>
                <a:gd name="connsiteY1" fmla="*/ 181394 h 181394"/>
                <a:gd name="connsiteX2" fmla="*/ 134400 w 134399"/>
                <a:gd name="connsiteY2" fmla="*/ 175170 h 181394"/>
                <a:gd name="connsiteX3" fmla="*/ 134400 w 134399"/>
                <a:gd name="connsiteY3" fmla="*/ 128176 h 181394"/>
                <a:gd name="connsiteX4" fmla="*/ 97011 w 134399"/>
                <a:gd name="connsiteY4" fmla="*/ 137196 h 181394"/>
                <a:gd name="connsiteX5" fmla="*/ 50003 w 134399"/>
                <a:gd name="connsiteY5" fmla="*/ 90472 h 181394"/>
                <a:gd name="connsiteX6" fmla="*/ 97011 w 134399"/>
                <a:gd name="connsiteY6" fmla="*/ 43747 h 181394"/>
                <a:gd name="connsiteX7" fmla="*/ 134400 w 134399"/>
                <a:gd name="connsiteY7" fmla="*/ 52768 h 181394"/>
                <a:gd name="connsiteX8" fmla="*/ 134400 w 134399"/>
                <a:gd name="connsiteY8" fmla="*/ 6314 h 181394"/>
                <a:gd name="connsiteX9" fmla="*/ 93835 w 134399"/>
                <a:gd name="connsiteY9" fmla="*/ 0 h 181394"/>
                <a:gd name="connsiteX10" fmla="*/ 0 w 134399"/>
                <a:gd name="connsiteY10" fmla="*/ 90652 h 18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4399" h="181394">
                  <a:moveTo>
                    <a:pt x="0" y="90652"/>
                  </a:moveTo>
                  <a:cubicBezTo>
                    <a:pt x="0" y="147118"/>
                    <a:pt x="43832" y="181394"/>
                    <a:pt x="93835" y="181394"/>
                  </a:cubicBezTo>
                  <a:cubicBezTo>
                    <a:pt x="107583" y="181261"/>
                    <a:pt x="121250" y="179165"/>
                    <a:pt x="134400" y="175170"/>
                  </a:cubicBezTo>
                  <a:lnTo>
                    <a:pt x="134400" y="128176"/>
                  </a:lnTo>
                  <a:cubicBezTo>
                    <a:pt x="122893" y="134240"/>
                    <a:pt x="110034" y="137341"/>
                    <a:pt x="97011" y="137196"/>
                  </a:cubicBezTo>
                  <a:cubicBezTo>
                    <a:pt x="71048" y="137196"/>
                    <a:pt x="50003" y="116276"/>
                    <a:pt x="50003" y="90472"/>
                  </a:cubicBezTo>
                  <a:cubicBezTo>
                    <a:pt x="50003" y="64667"/>
                    <a:pt x="71048" y="43747"/>
                    <a:pt x="97011" y="43747"/>
                  </a:cubicBezTo>
                  <a:cubicBezTo>
                    <a:pt x="110034" y="43598"/>
                    <a:pt x="122893" y="46700"/>
                    <a:pt x="134400" y="52768"/>
                  </a:cubicBezTo>
                  <a:lnTo>
                    <a:pt x="134400" y="6314"/>
                  </a:lnTo>
                  <a:cubicBezTo>
                    <a:pt x="121287" y="2146"/>
                    <a:pt x="107602" y="15"/>
                    <a:pt x="93835" y="0"/>
                  </a:cubicBezTo>
                  <a:cubicBezTo>
                    <a:pt x="39385" y="0"/>
                    <a:pt x="0" y="38335"/>
                    <a:pt x="0" y="9065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6" name="Freeform 26">
              <a:extLst>
                <a:ext uri="{FF2B5EF4-FFF2-40B4-BE49-F238E27FC236}">
                  <a16:creationId xmlns:a16="http://schemas.microsoft.com/office/drawing/2014/main" id="{83623A44-0F0F-1370-66F6-0846CAF90985}"/>
                </a:ext>
              </a:extLst>
            </p:cNvPr>
            <p:cNvSpPr/>
            <p:nvPr/>
          </p:nvSpPr>
          <p:spPr>
            <a:xfrm>
              <a:off x="7294401" y="3270889"/>
              <a:ext cx="134581" cy="181394"/>
            </a:xfrm>
            <a:custGeom>
              <a:avLst/>
              <a:gdLst>
                <a:gd name="connsiteX0" fmla="*/ 0 w 134581"/>
                <a:gd name="connsiteY0" fmla="*/ 90652 h 181394"/>
                <a:gd name="connsiteX1" fmla="*/ 93926 w 134581"/>
                <a:gd name="connsiteY1" fmla="*/ 181394 h 181394"/>
                <a:gd name="connsiteX2" fmla="*/ 134581 w 134581"/>
                <a:gd name="connsiteY2" fmla="*/ 175170 h 181394"/>
                <a:gd name="connsiteX3" fmla="*/ 134581 w 134581"/>
                <a:gd name="connsiteY3" fmla="*/ 128176 h 181394"/>
                <a:gd name="connsiteX4" fmla="*/ 97193 w 134581"/>
                <a:gd name="connsiteY4" fmla="*/ 137196 h 181394"/>
                <a:gd name="connsiteX5" fmla="*/ 50184 w 134581"/>
                <a:gd name="connsiteY5" fmla="*/ 90472 h 181394"/>
                <a:gd name="connsiteX6" fmla="*/ 97193 w 134581"/>
                <a:gd name="connsiteY6" fmla="*/ 43747 h 181394"/>
                <a:gd name="connsiteX7" fmla="*/ 134581 w 134581"/>
                <a:gd name="connsiteY7" fmla="*/ 52768 h 181394"/>
                <a:gd name="connsiteX8" fmla="*/ 134581 w 134581"/>
                <a:gd name="connsiteY8" fmla="*/ 6314 h 181394"/>
                <a:gd name="connsiteX9" fmla="*/ 93926 w 134581"/>
                <a:gd name="connsiteY9" fmla="*/ 0 h 181394"/>
                <a:gd name="connsiteX10" fmla="*/ 181 w 134581"/>
                <a:gd name="connsiteY10" fmla="*/ 90652 h 18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4581" h="181394">
                  <a:moveTo>
                    <a:pt x="0" y="90652"/>
                  </a:moveTo>
                  <a:cubicBezTo>
                    <a:pt x="0" y="147118"/>
                    <a:pt x="43832" y="181394"/>
                    <a:pt x="93926" y="181394"/>
                  </a:cubicBezTo>
                  <a:cubicBezTo>
                    <a:pt x="107708" y="181268"/>
                    <a:pt x="121400" y="179172"/>
                    <a:pt x="134581" y="175170"/>
                  </a:cubicBezTo>
                  <a:lnTo>
                    <a:pt x="134581" y="128176"/>
                  </a:lnTo>
                  <a:cubicBezTo>
                    <a:pt x="123065" y="134222"/>
                    <a:pt x="110216" y="137322"/>
                    <a:pt x="97193" y="137196"/>
                  </a:cubicBezTo>
                  <a:cubicBezTo>
                    <a:pt x="71231" y="137196"/>
                    <a:pt x="50184" y="116276"/>
                    <a:pt x="50184" y="90472"/>
                  </a:cubicBezTo>
                  <a:cubicBezTo>
                    <a:pt x="50184" y="64667"/>
                    <a:pt x="71231" y="43747"/>
                    <a:pt x="97193" y="43747"/>
                  </a:cubicBezTo>
                  <a:cubicBezTo>
                    <a:pt x="110217" y="43613"/>
                    <a:pt x="123068" y="46714"/>
                    <a:pt x="134581" y="52768"/>
                  </a:cubicBezTo>
                  <a:lnTo>
                    <a:pt x="134581" y="6314"/>
                  </a:lnTo>
                  <a:cubicBezTo>
                    <a:pt x="121434" y="2159"/>
                    <a:pt x="107722" y="30"/>
                    <a:pt x="93926" y="0"/>
                  </a:cubicBezTo>
                  <a:cubicBezTo>
                    <a:pt x="39476" y="0"/>
                    <a:pt x="181" y="38335"/>
                    <a:pt x="181" y="9065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7" name="Freeform 27">
              <a:extLst>
                <a:ext uri="{FF2B5EF4-FFF2-40B4-BE49-F238E27FC236}">
                  <a16:creationId xmlns:a16="http://schemas.microsoft.com/office/drawing/2014/main" id="{8ABAB402-379C-A6D8-AF39-B22717AC8652}"/>
                </a:ext>
              </a:extLst>
            </p:cNvPr>
            <p:cNvSpPr/>
            <p:nvPr/>
          </p:nvSpPr>
          <p:spPr>
            <a:xfrm>
              <a:off x="7943079" y="3270861"/>
              <a:ext cx="182591" cy="181947"/>
            </a:xfrm>
            <a:custGeom>
              <a:avLst/>
              <a:gdLst>
                <a:gd name="connsiteX0" fmla="*/ 89568 w 182591"/>
                <a:gd name="connsiteY0" fmla="*/ 137224 h 181947"/>
                <a:gd name="connsiteX1" fmla="*/ 42832 w 182591"/>
                <a:gd name="connsiteY1" fmla="*/ 91494 h 181947"/>
                <a:gd name="connsiteX2" fmla="*/ 88842 w 182591"/>
                <a:gd name="connsiteY2" fmla="*/ 45041 h 181947"/>
                <a:gd name="connsiteX3" fmla="*/ 135578 w 182591"/>
                <a:gd name="connsiteY3" fmla="*/ 90772 h 181947"/>
                <a:gd name="connsiteX4" fmla="*/ 135578 w 182591"/>
                <a:gd name="connsiteY4" fmla="*/ 91131 h 181947"/>
                <a:gd name="connsiteX5" fmla="*/ 91220 w 182591"/>
                <a:gd name="connsiteY5" fmla="*/ 137218 h 181947"/>
                <a:gd name="connsiteX6" fmla="*/ 89568 w 182591"/>
                <a:gd name="connsiteY6" fmla="*/ 137224 h 181947"/>
                <a:gd name="connsiteX7" fmla="*/ 89568 w 182591"/>
                <a:gd name="connsiteY7" fmla="*/ 479 h 181947"/>
                <a:gd name="connsiteX8" fmla="*/ 17 w 182591"/>
                <a:gd name="connsiteY8" fmla="*/ 92919 h 181947"/>
                <a:gd name="connsiteX9" fmla="*/ 93017 w 182591"/>
                <a:gd name="connsiteY9" fmla="*/ 181931 h 181947"/>
                <a:gd name="connsiteX10" fmla="*/ 182586 w 182591"/>
                <a:gd name="connsiteY10" fmla="*/ 91131 h 181947"/>
                <a:gd name="connsiteX11" fmla="*/ 92781 w 182591"/>
                <a:gd name="connsiteY11" fmla="*/ 5 h 181947"/>
                <a:gd name="connsiteX12" fmla="*/ 89568 w 182591"/>
                <a:gd name="connsiteY12" fmla="*/ 28 h 18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591" h="181947">
                  <a:moveTo>
                    <a:pt x="89568" y="137224"/>
                  </a:moveTo>
                  <a:cubicBezTo>
                    <a:pt x="63959" y="137423"/>
                    <a:pt x="43032" y="116949"/>
                    <a:pt x="42832" y="91494"/>
                  </a:cubicBezTo>
                  <a:cubicBezTo>
                    <a:pt x="42633" y="66038"/>
                    <a:pt x="63233" y="45241"/>
                    <a:pt x="88842" y="45041"/>
                  </a:cubicBezTo>
                  <a:cubicBezTo>
                    <a:pt x="114452" y="44842"/>
                    <a:pt x="135378" y="65317"/>
                    <a:pt x="135578" y="90772"/>
                  </a:cubicBezTo>
                  <a:cubicBezTo>
                    <a:pt x="135578" y="90891"/>
                    <a:pt x="135578" y="91011"/>
                    <a:pt x="135578" y="91131"/>
                  </a:cubicBezTo>
                  <a:cubicBezTo>
                    <a:pt x="136132" y="116033"/>
                    <a:pt x="116267" y="136667"/>
                    <a:pt x="91220" y="137218"/>
                  </a:cubicBezTo>
                  <a:cubicBezTo>
                    <a:pt x="90666" y="137229"/>
                    <a:pt x="90122" y="137232"/>
                    <a:pt x="89568" y="137224"/>
                  </a:cubicBezTo>
                  <a:moveTo>
                    <a:pt x="89568" y="479"/>
                  </a:moveTo>
                  <a:cubicBezTo>
                    <a:pt x="39157" y="1425"/>
                    <a:pt x="-936" y="42812"/>
                    <a:pt x="17" y="92919"/>
                  </a:cubicBezTo>
                  <a:cubicBezTo>
                    <a:pt x="969" y="143026"/>
                    <a:pt x="42605" y="182877"/>
                    <a:pt x="93017" y="181931"/>
                  </a:cubicBezTo>
                  <a:cubicBezTo>
                    <a:pt x="142784" y="180997"/>
                    <a:pt x="182623" y="140607"/>
                    <a:pt x="182586" y="91131"/>
                  </a:cubicBezTo>
                  <a:cubicBezTo>
                    <a:pt x="183104" y="41317"/>
                    <a:pt x="142893" y="519"/>
                    <a:pt x="92781" y="5"/>
                  </a:cubicBezTo>
                  <a:cubicBezTo>
                    <a:pt x="91710" y="-6"/>
                    <a:pt x="90639" y="1"/>
                    <a:pt x="89568" y="28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8" name="Freeform 28">
              <a:extLst>
                <a:ext uri="{FF2B5EF4-FFF2-40B4-BE49-F238E27FC236}">
                  <a16:creationId xmlns:a16="http://schemas.microsoft.com/office/drawing/2014/main" id="{A0F49F63-D861-23D0-7A32-6898EA38AA9E}"/>
                </a:ext>
              </a:extLst>
            </p:cNvPr>
            <p:cNvSpPr/>
            <p:nvPr/>
          </p:nvSpPr>
          <p:spPr>
            <a:xfrm>
              <a:off x="7593692" y="3270799"/>
              <a:ext cx="121059" cy="181484"/>
            </a:xfrm>
            <a:custGeom>
              <a:avLst/>
              <a:gdLst>
                <a:gd name="connsiteX0" fmla="*/ 79678 w 121059"/>
                <a:gd name="connsiteY0" fmla="*/ 72612 h 181484"/>
                <a:gd name="connsiteX1" fmla="*/ 67427 w 121059"/>
                <a:gd name="connsiteY1" fmla="*/ 68733 h 181484"/>
                <a:gd name="connsiteX2" fmla="*/ 47099 w 121059"/>
                <a:gd name="connsiteY2" fmla="*/ 52046 h 181484"/>
                <a:gd name="connsiteX3" fmla="*/ 74324 w 121059"/>
                <a:gd name="connsiteY3" fmla="*/ 37614 h 181484"/>
                <a:gd name="connsiteX4" fmla="*/ 109081 w 121059"/>
                <a:gd name="connsiteY4" fmla="*/ 43026 h 181484"/>
                <a:gd name="connsiteX5" fmla="*/ 109081 w 121059"/>
                <a:gd name="connsiteY5" fmla="*/ 5592 h 181484"/>
                <a:gd name="connsiteX6" fmla="*/ 65703 w 121059"/>
                <a:gd name="connsiteY6" fmla="*/ 0 h 181484"/>
                <a:gd name="connsiteX7" fmla="*/ 0 w 121059"/>
                <a:gd name="connsiteY7" fmla="*/ 54752 h 181484"/>
                <a:gd name="connsiteX8" fmla="*/ 45375 w 121059"/>
                <a:gd name="connsiteY8" fmla="*/ 105986 h 181484"/>
                <a:gd name="connsiteX9" fmla="*/ 54994 w 121059"/>
                <a:gd name="connsiteY9" fmla="*/ 109143 h 181484"/>
                <a:gd name="connsiteX10" fmla="*/ 74778 w 121059"/>
                <a:gd name="connsiteY10" fmla="*/ 126462 h 181484"/>
                <a:gd name="connsiteX11" fmla="*/ 42471 w 121059"/>
                <a:gd name="connsiteY11" fmla="*/ 142878 h 181484"/>
                <a:gd name="connsiteX12" fmla="*/ 454 w 121059"/>
                <a:gd name="connsiteY12" fmla="*/ 136384 h 181484"/>
                <a:gd name="connsiteX13" fmla="*/ 454 w 121059"/>
                <a:gd name="connsiteY13" fmla="*/ 176704 h 181484"/>
                <a:gd name="connsiteX14" fmla="*/ 48460 w 121059"/>
                <a:gd name="connsiteY14" fmla="*/ 181484 h 181484"/>
                <a:gd name="connsiteX15" fmla="*/ 121060 w 121059"/>
                <a:gd name="connsiteY15" fmla="*/ 122673 h 181484"/>
                <a:gd name="connsiteX16" fmla="*/ 79043 w 121059"/>
                <a:gd name="connsiteY16" fmla="*/ 72612 h 181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1059" h="181484">
                  <a:moveTo>
                    <a:pt x="79678" y="72612"/>
                  </a:moveTo>
                  <a:lnTo>
                    <a:pt x="67427" y="68733"/>
                  </a:lnTo>
                  <a:cubicBezTo>
                    <a:pt x="60167" y="66388"/>
                    <a:pt x="47099" y="62690"/>
                    <a:pt x="47099" y="52046"/>
                  </a:cubicBezTo>
                  <a:cubicBezTo>
                    <a:pt x="47099" y="43567"/>
                    <a:pt x="56718" y="37614"/>
                    <a:pt x="74324" y="37614"/>
                  </a:cubicBezTo>
                  <a:cubicBezTo>
                    <a:pt x="86085" y="38079"/>
                    <a:pt x="97746" y="39896"/>
                    <a:pt x="109081" y="43026"/>
                  </a:cubicBezTo>
                  <a:lnTo>
                    <a:pt x="109081" y="5592"/>
                  </a:lnTo>
                  <a:cubicBezTo>
                    <a:pt x="94888" y="2071"/>
                    <a:pt x="80331" y="194"/>
                    <a:pt x="65703" y="0"/>
                  </a:cubicBezTo>
                  <a:cubicBezTo>
                    <a:pt x="24684" y="0"/>
                    <a:pt x="0" y="22009"/>
                    <a:pt x="0" y="54752"/>
                  </a:cubicBezTo>
                  <a:cubicBezTo>
                    <a:pt x="0" y="83797"/>
                    <a:pt x="20691" y="98229"/>
                    <a:pt x="45375" y="105986"/>
                  </a:cubicBezTo>
                  <a:cubicBezTo>
                    <a:pt x="48188" y="106888"/>
                    <a:pt x="52272" y="108151"/>
                    <a:pt x="54994" y="109143"/>
                  </a:cubicBezTo>
                  <a:cubicBezTo>
                    <a:pt x="65975" y="112571"/>
                    <a:pt x="74778" y="117622"/>
                    <a:pt x="74778" y="126462"/>
                  </a:cubicBezTo>
                  <a:cubicBezTo>
                    <a:pt x="74778" y="135301"/>
                    <a:pt x="64614" y="142878"/>
                    <a:pt x="42471" y="142878"/>
                  </a:cubicBezTo>
                  <a:cubicBezTo>
                    <a:pt x="28250" y="142457"/>
                    <a:pt x="14130" y="140275"/>
                    <a:pt x="454" y="136384"/>
                  </a:cubicBezTo>
                  <a:lnTo>
                    <a:pt x="454" y="176704"/>
                  </a:lnTo>
                  <a:cubicBezTo>
                    <a:pt x="16281" y="179724"/>
                    <a:pt x="32343" y="181324"/>
                    <a:pt x="48460" y="181484"/>
                  </a:cubicBezTo>
                  <a:cubicBezTo>
                    <a:pt x="82491" y="181484"/>
                    <a:pt x="121060" y="166691"/>
                    <a:pt x="121060" y="122673"/>
                  </a:cubicBezTo>
                  <a:cubicBezTo>
                    <a:pt x="121060" y="101296"/>
                    <a:pt x="107901" y="81632"/>
                    <a:pt x="79043" y="7261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9" name="Freeform 29">
              <a:extLst>
                <a:ext uri="{FF2B5EF4-FFF2-40B4-BE49-F238E27FC236}">
                  <a16:creationId xmlns:a16="http://schemas.microsoft.com/office/drawing/2014/main" id="{62CA1BBC-594E-0B3B-ACB5-5180E647EB68}"/>
                </a:ext>
              </a:extLst>
            </p:cNvPr>
            <p:cNvSpPr/>
            <p:nvPr/>
          </p:nvSpPr>
          <p:spPr>
            <a:xfrm>
              <a:off x="7202835" y="3063878"/>
              <a:ext cx="44194" cy="88432"/>
            </a:xfrm>
            <a:custGeom>
              <a:avLst/>
              <a:gdLst>
                <a:gd name="connsiteX0" fmla="*/ 22143 w 44194"/>
                <a:gd name="connsiteY0" fmla="*/ 0 h 88432"/>
                <a:gd name="connsiteX1" fmla="*/ 0 w 44194"/>
                <a:gd name="connsiteY1" fmla="*/ 21919 h 88432"/>
                <a:gd name="connsiteX2" fmla="*/ 0 w 44194"/>
                <a:gd name="connsiteY2" fmla="*/ 67831 h 88432"/>
                <a:gd name="connsiteX3" fmla="*/ 23514 w 44194"/>
                <a:gd name="connsiteY3" fmla="*/ 88387 h 88432"/>
                <a:gd name="connsiteX4" fmla="*/ 44195 w 44194"/>
                <a:gd name="connsiteY4" fmla="*/ 67831 h 88432"/>
                <a:gd name="connsiteX5" fmla="*/ 44195 w 44194"/>
                <a:gd name="connsiteY5" fmla="*/ 21919 h 88432"/>
                <a:gd name="connsiteX6" fmla="*/ 22143 w 44194"/>
                <a:gd name="connsiteY6" fmla="*/ 0 h 88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94" h="88432">
                  <a:moveTo>
                    <a:pt x="22143" y="0"/>
                  </a:moveTo>
                  <a:cubicBezTo>
                    <a:pt x="9949" y="0"/>
                    <a:pt x="50" y="9799"/>
                    <a:pt x="0" y="21919"/>
                  </a:cubicBezTo>
                  <a:lnTo>
                    <a:pt x="0" y="67831"/>
                  </a:lnTo>
                  <a:cubicBezTo>
                    <a:pt x="782" y="79961"/>
                    <a:pt x="11310" y="89165"/>
                    <a:pt x="23514" y="88387"/>
                  </a:cubicBezTo>
                  <a:cubicBezTo>
                    <a:pt x="34627" y="87679"/>
                    <a:pt x="43483" y="78877"/>
                    <a:pt x="44195" y="67831"/>
                  </a:cubicBezTo>
                  <a:lnTo>
                    <a:pt x="44195" y="21919"/>
                  </a:lnTo>
                  <a:cubicBezTo>
                    <a:pt x="44195" y="9813"/>
                    <a:pt x="34321" y="0"/>
                    <a:pt x="22143" y="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51B57147-07A3-179D-3B44-669E31BA0779}"/>
                </a:ext>
              </a:extLst>
            </p:cNvPr>
            <p:cNvSpPr/>
            <p:nvPr/>
          </p:nvSpPr>
          <p:spPr>
            <a:xfrm>
              <a:off x="7324348" y="3003533"/>
              <a:ext cx="44104" cy="150094"/>
            </a:xfrm>
            <a:custGeom>
              <a:avLst/>
              <a:gdLst>
                <a:gd name="connsiteX0" fmla="*/ 22052 w 44104"/>
                <a:gd name="connsiteY0" fmla="*/ 150094 h 150094"/>
                <a:gd name="connsiteX1" fmla="*/ 44104 w 44104"/>
                <a:gd name="connsiteY1" fmla="*/ 128176 h 150094"/>
                <a:gd name="connsiteX2" fmla="*/ 44104 w 44104"/>
                <a:gd name="connsiteY2" fmla="*/ 21919 h 150094"/>
                <a:gd name="connsiteX3" fmla="*/ 22052 w 44104"/>
                <a:gd name="connsiteY3" fmla="*/ 0 h 150094"/>
                <a:gd name="connsiteX4" fmla="*/ 0 w 44104"/>
                <a:gd name="connsiteY4" fmla="*/ 21919 h 150094"/>
                <a:gd name="connsiteX5" fmla="*/ 0 w 44104"/>
                <a:gd name="connsiteY5" fmla="*/ 128176 h 150094"/>
                <a:gd name="connsiteX6" fmla="*/ 22052 w 44104"/>
                <a:gd name="connsiteY6" fmla="*/ 150094 h 150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04" h="150094">
                  <a:moveTo>
                    <a:pt x="22052" y="150094"/>
                  </a:moveTo>
                  <a:cubicBezTo>
                    <a:pt x="34231" y="150094"/>
                    <a:pt x="44104" y="140281"/>
                    <a:pt x="44104" y="128176"/>
                  </a:cubicBezTo>
                  <a:lnTo>
                    <a:pt x="44104" y="21919"/>
                  </a:lnTo>
                  <a:cubicBezTo>
                    <a:pt x="44104" y="9813"/>
                    <a:pt x="34231" y="0"/>
                    <a:pt x="22052" y="0"/>
                  </a:cubicBezTo>
                  <a:cubicBezTo>
                    <a:pt x="9873" y="0"/>
                    <a:pt x="0" y="9813"/>
                    <a:pt x="0" y="21919"/>
                  </a:cubicBezTo>
                  <a:lnTo>
                    <a:pt x="0" y="128176"/>
                  </a:lnTo>
                  <a:cubicBezTo>
                    <a:pt x="0" y="140281"/>
                    <a:pt x="9873" y="150094"/>
                    <a:pt x="22052" y="150094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1" name="Freeform 31">
              <a:extLst>
                <a:ext uri="{FF2B5EF4-FFF2-40B4-BE49-F238E27FC236}">
                  <a16:creationId xmlns:a16="http://schemas.microsoft.com/office/drawing/2014/main" id="{D2F4977B-6C3A-1749-28D3-74067758D800}"/>
                </a:ext>
              </a:extLst>
            </p:cNvPr>
            <p:cNvSpPr/>
            <p:nvPr/>
          </p:nvSpPr>
          <p:spPr>
            <a:xfrm>
              <a:off x="7445589" y="2921000"/>
              <a:ext cx="44104" cy="276375"/>
            </a:xfrm>
            <a:custGeom>
              <a:avLst/>
              <a:gdLst>
                <a:gd name="connsiteX0" fmla="*/ 22052 w 44104"/>
                <a:gd name="connsiteY0" fmla="*/ 0 h 276375"/>
                <a:gd name="connsiteX1" fmla="*/ 0 w 44104"/>
                <a:gd name="connsiteY1" fmla="*/ 21919 h 276375"/>
                <a:gd name="connsiteX2" fmla="*/ 0 w 44104"/>
                <a:gd name="connsiteY2" fmla="*/ 254457 h 276375"/>
                <a:gd name="connsiteX3" fmla="*/ 22052 w 44104"/>
                <a:gd name="connsiteY3" fmla="*/ 276376 h 276375"/>
                <a:gd name="connsiteX4" fmla="*/ 44104 w 44104"/>
                <a:gd name="connsiteY4" fmla="*/ 254457 h 276375"/>
                <a:gd name="connsiteX5" fmla="*/ 44104 w 44104"/>
                <a:gd name="connsiteY5" fmla="*/ 21919 h 276375"/>
                <a:gd name="connsiteX6" fmla="*/ 22052 w 44104"/>
                <a:gd name="connsiteY6" fmla="*/ 0 h 27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04" h="276375">
                  <a:moveTo>
                    <a:pt x="22052" y="0"/>
                  </a:moveTo>
                  <a:cubicBezTo>
                    <a:pt x="9873" y="0"/>
                    <a:pt x="0" y="9813"/>
                    <a:pt x="0" y="21919"/>
                  </a:cubicBezTo>
                  <a:lnTo>
                    <a:pt x="0" y="254457"/>
                  </a:lnTo>
                  <a:cubicBezTo>
                    <a:pt x="0" y="266563"/>
                    <a:pt x="9873" y="276376"/>
                    <a:pt x="22052" y="276376"/>
                  </a:cubicBezTo>
                  <a:cubicBezTo>
                    <a:pt x="34231" y="276376"/>
                    <a:pt x="44104" y="266563"/>
                    <a:pt x="44104" y="254457"/>
                  </a:cubicBezTo>
                  <a:lnTo>
                    <a:pt x="44104" y="21919"/>
                  </a:lnTo>
                  <a:cubicBezTo>
                    <a:pt x="44104" y="9813"/>
                    <a:pt x="34231" y="0"/>
                    <a:pt x="22052" y="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2" name="Freeform 32">
              <a:extLst>
                <a:ext uri="{FF2B5EF4-FFF2-40B4-BE49-F238E27FC236}">
                  <a16:creationId xmlns:a16="http://schemas.microsoft.com/office/drawing/2014/main" id="{7539BE40-6861-0AFB-E72A-25B2630122C7}"/>
                </a:ext>
              </a:extLst>
            </p:cNvPr>
            <p:cNvSpPr/>
            <p:nvPr/>
          </p:nvSpPr>
          <p:spPr>
            <a:xfrm>
              <a:off x="7566921" y="3003533"/>
              <a:ext cx="44104" cy="150094"/>
            </a:xfrm>
            <a:custGeom>
              <a:avLst/>
              <a:gdLst>
                <a:gd name="connsiteX0" fmla="*/ 44104 w 44104"/>
                <a:gd name="connsiteY0" fmla="*/ 128176 h 150094"/>
                <a:gd name="connsiteX1" fmla="*/ 44104 w 44104"/>
                <a:gd name="connsiteY1" fmla="*/ 21919 h 150094"/>
                <a:gd name="connsiteX2" fmla="*/ 22052 w 44104"/>
                <a:gd name="connsiteY2" fmla="*/ 0 h 150094"/>
                <a:gd name="connsiteX3" fmla="*/ 0 w 44104"/>
                <a:gd name="connsiteY3" fmla="*/ 21919 h 150094"/>
                <a:gd name="connsiteX4" fmla="*/ 0 w 44104"/>
                <a:gd name="connsiteY4" fmla="*/ 128176 h 150094"/>
                <a:gd name="connsiteX5" fmla="*/ 22052 w 44104"/>
                <a:gd name="connsiteY5" fmla="*/ 150094 h 150094"/>
                <a:gd name="connsiteX6" fmla="*/ 44104 w 44104"/>
                <a:gd name="connsiteY6" fmla="*/ 128176 h 150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04" h="150094">
                  <a:moveTo>
                    <a:pt x="44104" y="128176"/>
                  </a:moveTo>
                  <a:lnTo>
                    <a:pt x="44104" y="21919"/>
                  </a:lnTo>
                  <a:cubicBezTo>
                    <a:pt x="44104" y="9813"/>
                    <a:pt x="34231" y="0"/>
                    <a:pt x="22052" y="0"/>
                  </a:cubicBezTo>
                  <a:cubicBezTo>
                    <a:pt x="9874" y="0"/>
                    <a:pt x="0" y="9813"/>
                    <a:pt x="0" y="21919"/>
                  </a:cubicBezTo>
                  <a:lnTo>
                    <a:pt x="0" y="128176"/>
                  </a:lnTo>
                  <a:cubicBezTo>
                    <a:pt x="0" y="140281"/>
                    <a:pt x="9874" y="150094"/>
                    <a:pt x="22052" y="150094"/>
                  </a:cubicBezTo>
                  <a:cubicBezTo>
                    <a:pt x="34231" y="150094"/>
                    <a:pt x="44104" y="140281"/>
                    <a:pt x="44104" y="128176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3" name="Freeform 33">
              <a:extLst>
                <a:ext uri="{FF2B5EF4-FFF2-40B4-BE49-F238E27FC236}">
                  <a16:creationId xmlns:a16="http://schemas.microsoft.com/office/drawing/2014/main" id="{8726BE87-6F3D-1887-CD70-E89DF7FE7BFC}"/>
                </a:ext>
              </a:extLst>
            </p:cNvPr>
            <p:cNvSpPr/>
            <p:nvPr/>
          </p:nvSpPr>
          <p:spPr>
            <a:xfrm>
              <a:off x="7687800" y="3063876"/>
              <a:ext cx="44104" cy="89751"/>
            </a:xfrm>
            <a:custGeom>
              <a:avLst/>
              <a:gdLst>
                <a:gd name="connsiteX0" fmla="*/ 22415 w 44104"/>
                <a:gd name="connsiteY0" fmla="*/ 2 h 89751"/>
                <a:gd name="connsiteX1" fmla="*/ 0 w 44104"/>
                <a:gd name="connsiteY1" fmla="*/ 21738 h 89751"/>
                <a:gd name="connsiteX2" fmla="*/ 0 w 44104"/>
                <a:gd name="connsiteY2" fmla="*/ 21921 h 89751"/>
                <a:gd name="connsiteX3" fmla="*/ 0 w 44104"/>
                <a:gd name="connsiteY3" fmla="*/ 67833 h 89751"/>
                <a:gd name="connsiteX4" fmla="*/ 22052 w 44104"/>
                <a:gd name="connsiteY4" fmla="*/ 89752 h 89751"/>
                <a:gd name="connsiteX5" fmla="*/ 44104 w 44104"/>
                <a:gd name="connsiteY5" fmla="*/ 67833 h 89751"/>
                <a:gd name="connsiteX6" fmla="*/ 44104 w 44104"/>
                <a:gd name="connsiteY6" fmla="*/ 21921 h 89751"/>
                <a:gd name="connsiteX7" fmla="*/ 22143 w 44104"/>
                <a:gd name="connsiteY7" fmla="*/ 2 h 89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104" h="89751">
                  <a:moveTo>
                    <a:pt x="22415" y="2"/>
                  </a:moveTo>
                  <a:cubicBezTo>
                    <a:pt x="10191" y="-148"/>
                    <a:pt x="154" y="9584"/>
                    <a:pt x="0" y="21738"/>
                  </a:cubicBezTo>
                  <a:cubicBezTo>
                    <a:pt x="0" y="21799"/>
                    <a:pt x="0" y="21860"/>
                    <a:pt x="0" y="21921"/>
                  </a:cubicBezTo>
                  <a:lnTo>
                    <a:pt x="0" y="67833"/>
                  </a:lnTo>
                  <a:cubicBezTo>
                    <a:pt x="0" y="79939"/>
                    <a:pt x="9874" y="89752"/>
                    <a:pt x="22052" y="89752"/>
                  </a:cubicBezTo>
                  <a:cubicBezTo>
                    <a:pt x="34231" y="89752"/>
                    <a:pt x="44104" y="79939"/>
                    <a:pt x="44104" y="67833"/>
                  </a:cubicBezTo>
                  <a:lnTo>
                    <a:pt x="44104" y="21921"/>
                  </a:lnTo>
                  <a:cubicBezTo>
                    <a:pt x="44104" y="9850"/>
                    <a:pt x="34285" y="51"/>
                    <a:pt x="22143" y="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4" name="Freeform 34">
              <a:extLst>
                <a:ext uri="{FF2B5EF4-FFF2-40B4-BE49-F238E27FC236}">
                  <a16:creationId xmlns:a16="http://schemas.microsoft.com/office/drawing/2014/main" id="{EB3564BA-B2F9-645B-AD4D-30EC3199A221}"/>
                </a:ext>
              </a:extLst>
            </p:cNvPr>
            <p:cNvSpPr/>
            <p:nvPr/>
          </p:nvSpPr>
          <p:spPr>
            <a:xfrm>
              <a:off x="7809447" y="3002127"/>
              <a:ext cx="44107" cy="151500"/>
            </a:xfrm>
            <a:custGeom>
              <a:avLst/>
              <a:gdLst>
                <a:gd name="connsiteX0" fmla="*/ 22009 w 44107"/>
                <a:gd name="connsiteY0" fmla="*/ 151500 h 151500"/>
                <a:gd name="connsiteX1" fmla="*/ 44061 w 44107"/>
                <a:gd name="connsiteY1" fmla="*/ 129582 h 151500"/>
                <a:gd name="connsiteX2" fmla="*/ 44061 w 44107"/>
                <a:gd name="connsiteY2" fmla="*/ 23325 h 151500"/>
                <a:gd name="connsiteX3" fmla="*/ 23470 w 44107"/>
                <a:gd name="connsiteY3" fmla="*/ 46 h 151500"/>
                <a:gd name="connsiteX4" fmla="*/ 48 w 44107"/>
                <a:gd name="connsiteY4" fmla="*/ 20514 h 151500"/>
                <a:gd name="connsiteX5" fmla="*/ 48 w 44107"/>
                <a:gd name="connsiteY5" fmla="*/ 23325 h 151500"/>
                <a:gd name="connsiteX6" fmla="*/ 48 w 44107"/>
                <a:gd name="connsiteY6" fmla="*/ 129582 h 151500"/>
                <a:gd name="connsiteX7" fmla="*/ 21918 w 44107"/>
                <a:gd name="connsiteY7" fmla="*/ 151500 h 151500"/>
                <a:gd name="connsiteX8" fmla="*/ 22009 w 44107"/>
                <a:gd name="connsiteY8" fmla="*/ 151500 h 15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7" h="151500">
                  <a:moveTo>
                    <a:pt x="22009" y="151500"/>
                  </a:moveTo>
                  <a:cubicBezTo>
                    <a:pt x="34188" y="151500"/>
                    <a:pt x="44061" y="141688"/>
                    <a:pt x="44061" y="129582"/>
                  </a:cubicBezTo>
                  <a:lnTo>
                    <a:pt x="44061" y="23325"/>
                  </a:lnTo>
                  <a:cubicBezTo>
                    <a:pt x="44841" y="11244"/>
                    <a:pt x="35621" y="822"/>
                    <a:pt x="23470" y="46"/>
                  </a:cubicBezTo>
                  <a:cubicBezTo>
                    <a:pt x="11319" y="-730"/>
                    <a:pt x="828" y="8434"/>
                    <a:pt x="48" y="20514"/>
                  </a:cubicBezTo>
                  <a:cubicBezTo>
                    <a:pt x="-16" y="21451"/>
                    <a:pt x="-16" y="22389"/>
                    <a:pt x="48" y="23325"/>
                  </a:cubicBezTo>
                  <a:lnTo>
                    <a:pt x="48" y="129582"/>
                  </a:lnTo>
                  <a:cubicBezTo>
                    <a:pt x="-7" y="141637"/>
                    <a:pt x="9785" y="151451"/>
                    <a:pt x="21918" y="151500"/>
                  </a:cubicBezTo>
                  <a:cubicBezTo>
                    <a:pt x="21945" y="151500"/>
                    <a:pt x="21982" y="151500"/>
                    <a:pt x="22009" y="15150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5" name="Freeform 35">
              <a:extLst>
                <a:ext uri="{FF2B5EF4-FFF2-40B4-BE49-F238E27FC236}">
                  <a16:creationId xmlns:a16="http://schemas.microsoft.com/office/drawing/2014/main" id="{0B4EEF7D-1D1F-7611-2AD6-3168E2EE165C}"/>
                </a:ext>
              </a:extLst>
            </p:cNvPr>
            <p:cNvSpPr/>
            <p:nvPr/>
          </p:nvSpPr>
          <p:spPr>
            <a:xfrm>
              <a:off x="7930779" y="2919593"/>
              <a:ext cx="44108" cy="279187"/>
            </a:xfrm>
            <a:custGeom>
              <a:avLst/>
              <a:gdLst>
                <a:gd name="connsiteX0" fmla="*/ 44061 w 44108"/>
                <a:gd name="connsiteY0" fmla="*/ 255863 h 279187"/>
                <a:gd name="connsiteX1" fmla="*/ 44061 w 44108"/>
                <a:gd name="connsiteY1" fmla="*/ 23325 h 279187"/>
                <a:gd name="connsiteX2" fmla="*/ 23470 w 44108"/>
                <a:gd name="connsiteY2" fmla="*/ 46 h 279187"/>
                <a:gd name="connsiteX3" fmla="*/ 48 w 44108"/>
                <a:gd name="connsiteY3" fmla="*/ 20514 h 279187"/>
                <a:gd name="connsiteX4" fmla="*/ 48 w 44108"/>
                <a:gd name="connsiteY4" fmla="*/ 23325 h 279187"/>
                <a:gd name="connsiteX5" fmla="*/ 48 w 44108"/>
                <a:gd name="connsiteY5" fmla="*/ 255863 h 279187"/>
                <a:gd name="connsiteX6" fmla="*/ 20639 w 44108"/>
                <a:gd name="connsiteY6" fmla="*/ 279142 h 279187"/>
                <a:gd name="connsiteX7" fmla="*/ 44061 w 44108"/>
                <a:gd name="connsiteY7" fmla="*/ 258674 h 279187"/>
                <a:gd name="connsiteX8" fmla="*/ 44061 w 44108"/>
                <a:gd name="connsiteY8" fmla="*/ 255863 h 279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8" h="279187">
                  <a:moveTo>
                    <a:pt x="44061" y="255863"/>
                  </a:moveTo>
                  <a:lnTo>
                    <a:pt x="44061" y="23325"/>
                  </a:lnTo>
                  <a:cubicBezTo>
                    <a:pt x="44842" y="11244"/>
                    <a:pt x="35621" y="822"/>
                    <a:pt x="23470" y="46"/>
                  </a:cubicBezTo>
                  <a:cubicBezTo>
                    <a:pt x="11319" y="-730"/>
                    <a:pt x="828" y="8434"/>
                    <a:pt x="48" y="20514"/>
                  </a:cubicBezTo>
                  <a:cubicBezTo>
                    <a:pt x="-16" y="21450"/>
                    <a:pt x="-16" y="22389"/>
                    <a:pt x="48" y="23325"/>
                  </a:cubicBezTo>
                  <a:lnTo>
                    <a:pt x="48" y="255863"/>
                  </a:lnTo>
                  <a:cubicBezTo>
                    <a:pt x="-733" y="267944"/>
                    <a:pt x="8487" y="278366"/>
                    <a:pt x="20639" y="279142"/>
                  </a:cubicBezTo>
                  <a:cubicBezTo>
                    <a:pt x="32790" y="279919"/>
                    <a:pt x="43281" y="270754"/>
                    <a:pt x="44061" y="258674"/>
                  </a:cubicBezTo>
                  <a:cubicBezTo>
                    <a:pt x="44125" y="257737"/>
                    <a:pt x="44125" y="256799"/>
                    <a:pt x="44061" y="255863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6" name="Freeform 36">
              <a:extLst>
                <a:ext uri="{FF2B5EF4-FFF2-40B4-BE49-F238E27FC236}">
                  <a16:creationId xmlns:a16="http://schemas.microsoft.com/office/drawing/2014/main" id="{9A55B643-50C9-ECA1-F047-7AF4A01DADB7}"/>
                </a:ext>
              </a:extLst>
            </p:cNvPr>
            <p:cNvSpPr/>
            <p:nvPr/>
          </p:nvSpPr>
          <p:spPr>
            <a:xfrm>
              <a:off x="8051886" y="3003443"/>
              <a:ext cx="44285" cy="150187"/>
            </a:xfrm>
            <a:custGeom>
              <a:avLst/>
              <a:gdLst>
                <a:gd name="connsiteX0" fmla="*/ 21961 w 44285"/>
                <a:gd name="connsiteY0" fmla="*/ 150185 h 150187"/>
                <a:gd name="connsiteX1" fmla="*/ 44286 w 44285"/>
                <a:gd name="connsiteY1" fmla="*/ 128720 h 150187"/>
                <a:gd name="connsiteX2" fmla="*/ 44286 w 44285"/>
                <a:gd name="connsiteY2" fmla="*/ 128266 h 150187"/>
                <a:gd name="connsiteX3" fmla="*/ 44286 w 44285"/>
                <a:gd name="connsiteY3" fmla="*/ 22009 h 150187"/>
                <a:gd name="connsiteX4" fmla="*/ 22143 w 44285"/>
                <a:gd name="connsiteY4" fmla="*/ 0 h 150187"/>
                <a:gd name="connsiteX5" fmla="*/ 0 w 44285"/>
                <a:gd name="connsiteY5" fmla="*/ 22009 h 150187"/>
                <a:gd name="connsiteX6" fmla="*/ 0 w 44285"/>
                <a:gd name="connsiteY6" fmla="*/ 128266 h 150187"/>
                <a:gd name="connsiteX7" fmla="*/ 22052 w 44285"/>
                <a:gd name="connsiteY7" fmla="*/ 150185 h 15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285" h="150187">
                  <a:moveTo>
                    <a:pt x="21961" y="150185"/>
                  </a:moveTo>
                  <a:cubicBezTo>
                    <a:pt x="34086" y="150384"/>
                    <a:pt x="44086" y="140774"/>
                    <a:pt x="44286" y="128720"/>
                  </a:cubicBezTo>
                  <a:cubicBezTo>
                    <a:pt x="44286" y="128569"/>
                    <a:pt x="44286" y="128417"/>
                    <a:pt x="44286" y="128266"/>
                  </a:cubicBezTo>
                  <a:lnTo>
                    <a:pt x="44286" y="22009"/>
                  </a:lnTo>
                  <a:cubicBezTo>
                    <a:pt x="44286" y="9854"/>
                    <a:pt x="34376" y="0"/>
                    <a:pt x="22143" y="0"/>
                  </a:cubicBezTo>
                  <a:cubicBezTo>
                    <a:pt x="9910" y="0"/>
                    <a:pt x="0" y="9854"/>
                    <a:pt x="0" y="22009"/>
                  </a:cubicBezTo>
                  <a:lnTo>
                    <a:pt x="0" y="128266"/>
                  </a:lnTo>
                  <a:cubicBezTo>
                    <a:pt x="0" y="140372"/>
                    <a:pt x="9874" y="150185"/>
                    <a:pt x="22052" y="150185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7" name="Freeform 37">
              <a:extLst>
                <a:ext uri="{FF2B5EF4-FFF2-40B4-BE49-F238E27FC236}">
                  <a16:creationId xmlns:a16="http://schemas.microsoft.com/office/drawing/2014/main" id="{46A6ACD1-E596-9055-243C-B9CF5CFB813D}"/>
                </a:ext>
              </a:extLst>
            </p:cNvPr>
            <p:cNvSpPr/>
            <p:nvPr/>
          </p:nvSpPr>
          <p:spPr>
            <a:xfrm>
              <a:off x="8173172" y="3063878"/>
              <a:ext cx="44107" cy="91156"/>
            </a:xfrm>
            <a:custGeom>
              <a:avLst/>
              <a:gdLst>
                <a:gd name="connsiteX0" fmla="*/ 22007 w 44107"/>
                <a:gd name="connsiteY0" fmla="*/ 0 h 91156"/>
                <a:gd name="connsiteX1" fmla="*/ 46 w 44107"/>
                <a:gd name="connsiteY1" fmla="*/ 21829 h 91156"/>
                <a:gd name="connsiteX2" fmla="*/ 46 w 44107"/>
                <a:gd name="connsiteY2" fmla="*/ 21919 h 91156"/>
                <a:gd name="connsiteX3" fmla="*/ 46 w 44107"/>
                <a:gd name="connsiteY3" fmla="*/ 67831 h 91156"/>
                <a:gd name="connsiteX4" fmla="*/ 20637 w 44107"/>
                <a:gd name="connsiteY4" fmla="*/ 91110 h 91156"/>
                <a:gd name="connsiteX5" fmla="*/ 44059 w 44107"/>
                <a:gd name="connsiteY5" fmla="*/ 70642 h 91156"/>
                <a:gd name="connsiteX6" fmla="*/ 44059 w 44107"/>
                <a:gd name="connsiteY6" fmla="*/ 67831 h 91156"/>
                <a:gd name="connsiteX7" fmla="*/ 44059 w 44107"/>
                <a:gd name="connsiteY7" fmla="*/ 21919 h 91156"/>
                <a:gd name="connsiteX8" fmla="*/ 22007 w 44107"/>
                <a:gd name="connsiteY8" fmla="*/ 0 h 91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7" h="91156">
                  <a:moveTo>
                    <a:pt x="22007" y="0"/>
                  </a:moveTo>
                  <a:cubicBezTo>
                    <a:pt x="9874" y="0"/>
                    <a:pt x="46" y="9773"/>
                    <a:pt x="46" y="21829"/>
                  </a:cubicBezTo>
                  <a:cubicBezTo>
                    <a:pt x="46" y="21858"/>
                    <a:pt x="46" y="21889"/>
                    <a:pt x="46" y="21919"/>
                  </a:cubicBezTo>
                  <a:lnTo>
                    <a:pt x="46" y="67831"/>
                  </a:lnTo>
                  <a:cubicBezTo>
                    <a:pt x="-734" y="79912"/>
                    <a:pt x="8486" y="90334"/>
                    <a:pt x="20637" y="91110"/>
                  </a:cubicBezTo>
                  <a:cubicBezTo>
                    <a:pt x="32789" y="91887"/>
                    <a:pt x="43279" y="82722"/>
                    <a:pt x="44059" y="70642"/>
                  </a:cubicBezTo>
                  <a:cubicBezTo>
                    <a:pt x="44123" y="69705"/>
                    <a:pt x="44123" y="68767"/>
                    <a:pt x="44059" y="67831"/>
                  </a:cubicBezTo>
                  <a:lnTo>
                    <a:pt x="44059" y="21919"/>
                  </a:lnTo>
                  <a:cubicBezTo>
                    <a:pt x="44059" y="9813"/>
                    <a:pt x="34186" y="0"/>
                    <a:pt x="22007" y="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63859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theme" Target="../theme/theme1.xml"/><Relationship Id="rId58" Type="http://schemas.openxmlformats.org/officeDocument/2006/relationships/image" Target="../media/image1.png"/><Relationship Id="rId59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F21F2830-F0A3-2EAC-C709-5C928A8C4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8146"/>
            <a:ext cx="11544300" cy="492443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55BE63C-8C0C-FC75-3DF2-F8F96A3C87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3754" y="1244599"/>
            <a:ext cx="11544396" cy="4835321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9B4362-70A2-3ADC-C4AA-ADA6E4E09C94}"/>
              </a:ext>
            </a:extLst>
          </p:cNvPr>
          <p:cNvSpPr>
            <a:spLocks/>
          </p:cNvSpPr>
          <p:nvPr/>
        </p:nvSpPr>
        <p:spPr bwMode="ltGray">
          <a:xfrm>
            <a:off x="323850" y="6448930"/>
            <a:ext cx="3285935" cy="409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defTabSz="8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ＭＳ Ｐゴシック" charset="0"/>
                <a:cs typeface="CiscoSansTT Light" panose="020B0503020201020303" pitchFamily="34" charset="0"/>
              </a:rPr>
              <a:t>© 2025 Cisco and/or its affiliates. All rights reserved.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42B348-7CFA-9BD7-7FBA-A3E160A677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30688" y="6445885"/>
            <a:ext cx="3727450" cy="41148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kumimoji="0" lang="en-US" sz="700" b="0" i="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ＭＳ Ｐゴシック" charset="0"/>
                <a:cs typeface="CiscoSansTT Light" panose="020B0503020201020303" pitchFamily="34" charset="0"/>
              </a:defRPr>
            </a:lvl1pPr>
          </a:lstStyle>
          <a:p>
            <a:pPr defTabSz="814318">
              <a:defRPr/>
            </a:pPr>
            <a:r>
              <a:rPr lang="en-US" dirty="0"/>
              <a:t>Session ID: BRKSEC-XXXX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0ECAE8E-F596-3416-3914-B7C065191A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kumimoji="0" lang="en-US" sz="700" b="0" i="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ＭＳ Ｐゴシック" charset="0"/>
                <a:cs typeface="CiscoSansTT Light" panose="020B0503020201020303" pitchFamily="34" charset="0"/>
              </a:defRPr>
            </a:lvl1pPr>
          </a:lstStyle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7" descr="Cisco Logo">
            <a:extLst>
              <a:ext uri="{FF2B5EF4-FFF2-40B4-BE49-F238E27FC236}">
                <a16:creationId xmlns:a16="http://schemas.microsoft.com/office/drawing/2014/main" id="{E912C7E4-465D-A60D-49E8-6866FAAE6559}"/>
              </a:ext>
            </a:extLst>
          </p:cNvPr>
          <p:cNvPicPr>
            <a:picLocks noChangeAspect="1"/>
          </p:cNvPicPr>
          <p:nvPr/>
        </p:nvPicPr>
        <p:blipFill>
          <a:blip r:embed="rId5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rcRect/>
          <a:stretch/>
        </p:blipFill>
        <p:spPr>
          <a:xfrm>
            <a:off x="11520088" y="6354445"/>
            <a:ext cx="348061" cy="1828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CAE3397-B7E0-F9B7-D1AC-C859F3CFC5AF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15700" y="6672580"/>
            <a:ext cx="83343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19810597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  <p:sldLayoutId id="2147483824" r:id="rId12"/>
    <p:sldLayoutId id="2147483825" r:id="rId13"/>
    <p:sldLayoutId id="2147483826" r:id="rId14"/>
    <p:sldLayoutId id="2147483827" r:id="rId15"/>
    <p:sldLayoutId id="2147483828" r:id="rId16"/>
    <p:sldLayoutId id="2147483829" r:id="rId17"/>
    <p:sldLayoutId id="2147483830" r:id="rId18"/>
    <p:sldLayoutId id="2147483831" r:id="rId19"/>
    <p:sldLayoutId id="2147483867" r:id="rId20"/>
    <p:sldLayoutId id="2147483868" r:id="rId21"/>
    <p:sldLayoutId id="2147483832" r:id="rId22"/>
    <p:sldLayoutId id="2147483833" r:id="rId23"/>
    <p:sldLayoutId id="2147483834" r:id="rId24"/>
    <p:sldLayoutId id="2147483835" r:id="rId25"/>
    <p:sldLayoutId id="2147483836" r:id="rId26"/>
    <p:sldLayoutId id="2147483837" r:id="rId27"/>
    <p:sldLayoutId id="2147483838" r:id="rId28"/>
    <p:sldLayoutId id="2147483839" r:id="rId29"/>
    <p:sldLayoutId id="2147483840" r:id="rId30"/>
    <p:sldLayoutId id="2147483841" r:id="rId31"/>
    <p:sldLayoutId id="2147483842" r:id="rId32"/>
    <p:sldLayoutId id="2147483843" r:id="rId33"/>
    <p:sldLayoutId id="2147483844" r:id="rId34"/>
    <p:sldLayoutId id="2147483845" r:id="rId35"/>
    <p:sldLayoutId id="2147483846" r:id="rId36"/>
    <p:sldLayoutId id="2147483847" r:id="rId37"/>
    <p:sldLayoutId id="2147483848" r:id="rId38"/>
    <p:sldLayoutId id="2147483849" r:id="rId39"/>
    <p:sldLayoutId id="2147483850" r:id="rId40"/>
    <p:sldLayoutId id="2147483851" r:id="rId41"/>
    <p:sldLayoutId id="2147483852" r:id="rId42"/>
    <p:sldLayoutId id="2147483853" r:id="rId43"/>
    <p:sldLayoutId id="2147483854" r:id="rId44"/>
    <p:sldLayoutId id="2147483855" r:id="rId45"/>
    <p:sldLayoutId id="2147483856" r:id="rId46"/>
    <p:sldLayoutId id="2147483857" r:id="rId47"/>
    <p:sldLayoutId id="2147483858" r:id="rId48"/>
    <p:sldLayoutId id="2147483859" r:id="rId49"/>
    <p:sldLayoutId id="2147483860" r:id="rId50"/>
    <p:sldLayoutId id="2147483861" r:id="rId51"/>
    <p:sldLayoutId id="2147483862" r:id="rId52"/>
    <p:sldLayoutId id="2147483863" r:id="rId53"/>
    <p:sldLayoutId id="2147483864" r:id="rId54"/>
    <p:sldLayoutId id="2147483865" r:id="rId55"/>
    <p:sldLayoutId id="2147483866" r:id="rId5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marL="0" indent="0" algn="l" defTabSz="912276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Tx/>
        <a:buSzPct val="70000"/>
        <a:buFont typeface="Arial" panose="020B0604020202020204" pitchFamily="34" charset="0"/>
        <a:buNone/>
        <a:defRPr lang="en-US" sz="3200" b="0" i="0" u="none" kern="1200" dirty="0">
          <a:solidFill>
            <a:schemeClr val="bg1"/>
          </a:solidFill>
          <a:latin typeface="+mj-lt"/>
          <a:ea typeface="CiscoSansTT Thin" charset="0"/>
          <a:cs typeface="CiscoSansTT Thin" charset="0"/>
        </a:defRPr>
      </a:lvl1pPr>
      <a:lvl2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2pPr>
      <a:lvl3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3pPr>
      <a:lvl4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4pPr>
      <a:lvl5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5pPr>
      <a:lvl6pPr marL="609595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6pPr>
      <a:lvl7pPr marL="1219190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7pPr>
      <a:lvl8pPr marL="1828785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8pPr>
      <a:lvl9pPr marL="2438379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18288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1pPr>
      <a:lvl2pPr marL="36576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18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2pPr>
      <a:lvl3pPr marL="54864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3pPr>
      <a:lvl4pPr marL="73152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14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4pPr>
      <a:lvl5pPr marL="91440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12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5pPr>
      <a:lvl6pPr marL="1151798" indent="-228592" algn="l" defTabSz="914362" rtl="0" eaLnBrk="1" latinLnBrk="0" hangingPunct="1">
        <a:spcBef>
          <a:spcPts val="800"/>
        </a:spcBef>
        <a:buFont typeface="Arial" pitchFamily="34" charset="0"/>
        <a:buChar char="•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247781" indent="-228561" algn="l" defTabSz="914362" rtl="0" eaLnBrk="1" latinLnBrk="0" hangingPunct="1">
        <a:spcBef>
          <a:spcPts val="800"/>
        </a:spcBef>
        <a:buFont typeface="Arial" pitchFamily="34" charset="0"/>
        <a:buChar char="•"/>
        <a:defRPr sz="1067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267" indent="0" algn="l" defTabSz="914362" rtl="0" eaLnBrk="1" latinLnBrk="0" hangingPunct="1">
        <a:spcBef>
          <a:spcPct val="20000"/>
        </a:spcBef>
        <a:buFont typeface="Arial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38" indent="-228592" algn="l" defTabSz="91436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362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2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5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3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3086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200267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0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04">
          <p15:clr>
            <a:srgbClr val="F26B43"/>
          </p15:clr>
        </p15:guide>
        <p15:guide id="3" pos="7476">
          <p15:clr>
            <a:srgbClr val="F26B43"/>
          </p15:clr>
        </p15:guide>
        <p15:guide id="6" pos="3840">
          <p15:clr>
            <a:srgbClr val="F26B43"/>
          </p15:clr>
        </p15:guide>
        <p15:guide id="9" orient="horz" pos="3827">
          <p15:clr>
            <a:srgbClr val="9FCC3B"/>
          </p15:clr>
        </p15:guide>
        <p15:guide id="10" orient="horz" pos="202">
          <p15:clr>
            <a:srgbClr val="F26B43"/>
          </p15:clr>
        </p15:guide>
        <p15:guide id="11" orient="horz" pos="2160">
          <p15:clr>
            <a:srgbClr val="F26B43"/>
          </p15:clr>
        </p15:guide>
        <p15:guide id="12" orient="horz" pos="392">
          <p15:clr>
            <a:srgbClr val="A4A3A4"/>
          </p15:clr>
        </p15:guide>
        <p15:guide id="13" orient="horz" pos="2552">
          <p15:clr>
            <a:srgbClr val="A4A3A4"/>
          </p15:clr>
        </p15:guide>
        <p15:guide id="14" orient="horz" pos="600">
          <p15:clr>
            <a:srgbClr val="A4A3A4"/>
          </p15:clr>
        </p15:guide>
        <p15:guide id="15" orient="horz" pos="1766">
          <p15:clr>
            <a:srgbClr val="A4A3A4"/>
          </p15:clr>
        </p15:guide>
        <p15:guide id="16" orient="horz" pos="2355">
          <p15:clr>
            <a:srgbClr val="A4A3A4"/>
          </p15:clr>
        </p15:guide>
        <p15:guide id="18" orient="horz" pos="4118">
          <p15:clr>
            <a:srgbClr val="F26B43"/>
          </p15:clr>
        </p15:guide>
        <p15:guide id="19" orient="horz" pos="1178">
          <p15:clr>
            <a:srgbClr val="A4A3A4"/>
          </p15:clr>
        </p15:guide>
        <p15:guide id="20" orient="horz" pos="1374">
          <p15:clr>
            <a:srgbClr val="A4A3A4"/>
          </p15:clr>
        </p15:guide>
        <p15:guide id="21" orient="horz" pos="1570">
          <p15:clr>
            <a:srgbClr val="A4A3A4"/>
          </p15:clr>
        </p15:guide>
        <p15:guide id="22" pos="703">
          <p15:clr>
            <a:srgbClr val="A4A3A4"/>
          </p15:clr>
        </p15:guide>
        <p15:guide id="23" pos="820">
          <p15:clr>
            <a:srgbClr val="A4A3A4"/>
          </p15:clr>
        </p15:guide>
        <p15:guide id="24" pos="1321">
          <p15:clr>
            <a:srgbClr val="A4A3A4"/>
          </p15:clr>
        </p15:guide>
        <p15:guide id="25" pos="1435">
          <p15:clr>
            <a:srgbClr val="A4A3A4"/>
          </p15:clr>
        </p15:guide>
        <p15:guide id="26" pos="1936">
          <p15:clr>
            <a:srgbClr val="A4A3A4"/>
          </p15:clr>
        </p15:guide>
        <p15:guide id="27" pos="2051">
          <p15:clr>
            <a:srgbClr val="A4A3A4"/>
          </p15:clr>
        </p15:guide>
        <p15:guide id="28" pos="2551">
          <p15:clr>
            <a:srgbClr val="A4A3A4"/>
          </p15:clr>
        </p15:guide>
        <p15:guide id="29" pos="2665">
          <p15:clr>
            <a:srgbClr val="A4A3A4"/>
          </p15:clr>
        </p15:guide>
        <p15:guide id="30" pos="3167">
          <p15:clr>
            <a:srgbClr val="A4A3A4"/>
          </p15:clr>
        </p15:guide>
        <p15:guide id="31" pos="3281">
          <p15:clr>
            <a:srgbClr val="A4A3A4"/>
          </p15:clr>
        </p15:guide>
        <p15:guide id="32" pos="3783">
          <p15:clr>
            <a:srgbClr val="A4A3A4"/>
          </p15:clr>
        </p15:guide>
        <p15:guide id="33" pos="3896">
          <p15:clr>
            <a:srgbClr val="A4A3A4"/>
          </p15:clr>
        </p15:guide>
        <p15:guide id="34" pos="4397">
          <p15:clr>
            <a:srgbClr val="A4A3A4"/>
          </p15:clr>
        </p15:guide>
        <p15:guide id="35" pos="4512">
          <p15:clr>
            <a:srgbClr val="A4A3A4"/>
          </p15:clr>
        </p15:guide>
        <p15:guide id="36" pos="5013">
          <p15:clr>
            <a:srgbClr val="A4A3A4"/>
          </p15:clr>
        </p15:guide>
        <p15:guide id="37" pos="5128">
          <p15:clr>
            <a:srgbClr val="A4A3A4"/>
          </p15:clr>
        </p15:guide>
        <p15:guide id="38" pos="5629">
          <p15:clr>
            <a:srgbClr val="A4A3A4"/>
          </p15:clr>
        </p15:guide>
        <p15:guide id="39" pos="5742">
          <p15:clr>
            <a:srgbClr val="A4A3A4"/>
          </p15:clr>
        </p15:guide>
        <p15:guide id="40" pos="6244">
          <p15:clr>
            <a:srgbClr val="A4A3A4"/>
          </p15:clr>
        </p15:guide>
        <p15:guide id="41" pos="6359">
          <p15:clr>
            <a:srgbClr val="A4A3A4"/>
          </p15:clr>
        </p15:guide>
        <p15:guide id="42" pos="6859">
          <p15:clr>
            <a:srgbClr val="A4A3A4"/>
          </p15:clr>
        </p15:guide>
        <p15:guide id="43" pos="6975">
          <p15:clr>
            <a:srgbClr val="A4A3A4"/>
          </p15:clr>
        </p15:guide>
        <p15:guide id="44" orient="horz" pos="784">
          <p15:clr>
            <a:srgbClr val="A4A3A4"/>
          </p15:clr>
        </p15:guide>
        <p15:guide id="45" orient="horz" pos="980">
          <p15:clr>
            <a:srgbClr val="A4A3A4"/>
          </p15:clr>
        </p15:guide>
        <p15:guide id="46" orient="horz" pos="1962">
          <p15:clr>
            <a:srgbClr val="A4A3A4"/>
          </p15:clr>
        </p15:guide>
        <p15:guide id="47" orient="horz" pos="2747">
          <p15:clr>
            <a:srgbClr val="A4A3A4"/>
          </p15:clr>
        </p15:guide>
        <p15:guide id="48" orient="horz" pos="2945">
          <p15:clr>
            <a:srgbClr val="A4A3A4"/>
          </p15:clr>
        </p15:guide>
        <p15:guide id="49" orient="horz" pos="3141">
          <p15:clr>
            <a:srgbClr val="A4A3A4"/>
          </p15:clr>
        </p15:guide>
        <p15:guide id="50" orient="horz" pos="3337">
          <p15:clr>
            <a:srgbClr val="A4A3A4"/>
          </p15:clr>
        </p15:guide>
        <p15:guide id="51" orient="horz" pos="3535">
          <p15:clr>
            <a:srgbClr val="A4A3A4"/>
          </p15:clr>
        </p15:guide>
        <p15:guide id="52" orient="horz" pos="3730">
          <p15:clr>
            <a:srgbClr val="A4A3A4"/>
          </p15:clr>
        </p15:guide>
        <p15:guide id="53" orient="horz" pos="3936">
          <p15:clr>
            <a:srgbClr val="A4A3A4"/>
          </p15:clr>
        </p15:guide>
        <p15:guide id="54" orient="horz" pos="187">
          <p15:clr>
            <a:srgbClr val="9FCC3B"/>
          </p15:clr>
        </p15:guide>
        <p15:guide id="55" pos="455">
          <p15:clr>
            <a:srgbClr val="9FCC3B"/>
          </p15:clr>
        </p15:guide>
        <p15:guide id="56" pos="1069">
          <p15:clr>
            <a:srgbClr val="9FCC3B"/>
          </p15:clr>
        </p15:guide>
        <p15:guide id="57" pos="1685">
          <p15:clr>
            <a:srgbClr val="9FCC3B"/>
          </p15:clr>
        </p15:guide>
        <p15:guide id="58" pos="2301">
          <p15:clr>
            <a:srgbClr val="9FCC3B"/>
          </p15:clr>
        </p15:guide>
        <p15:guide id="59" pos="2915">
          <p15:clr>
            <a:srgbClr val="9FCC3B"/>
          </p15:clr>
        </p15:guide>
        <p15:guide id="60" pos="3531">
          <p15:clr>
            <a:srgbClr val="9FCC3B"/>
          </p15:clr>
        </p15:guide>
        <p15:guide id="61" pos="4146">
          <p15:clr>
            <a:srgbClr val="9FCC3B"/>
          </p15:clr>
        </p15:guide>
        <p15:guide id="62" pos="4762">
          <p15:clr>
            <a:srgbClr val="9FCC3B"/>
          </p15:clr>
        </p15:guide>
        <p15:guide id="63" pos="5378">
          <p15:clr>
            <a:srgbClr val="9FCC3B"/>
          </p15:clr>
        </p15:guide>
        <p15:guide id="64" pos="5992">
          <p15:clr>
            <a:srgbClr val="9FCC3B"/>
          </p15:clr>
        </p15:guide>
        <p15:guide id="65" pos="6609">
          <p15:clr>
            <a:srgbClr val="9FCC3B"/>
          </p15:clr>
        </p15:guide>
        <p15:guide id="66" pos="7225">
          <p15:clr>
            <a:srgbClr val="9FCC3B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NaC Parity — GES regional 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b="0" sz="2000"/>
            </a:pPr>
            <a:r>
              <a:t>SD-WAN &amp; Cat-C/SDA · Source: merged readiness workbook · 2026-04-16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GES-East — Cat-C/SDA &amp; SD-WAN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 wrap="square"/>
          <a:lstStyle/>
          <a:p>
            <a:pPr>
              <a:spcAft>
                <a:spcPts val="200"/>
              </a:spcAft>
              <a:defRPr sz="1600" b="1"/>
            </a:pPr>
            <a:r>
              <a:t>1) Customers at ≥80% parity (by technology)</a:t>
            </a:r>
          </a:p>
          <a:p>
            <a:pPr>
              <a:spcAft>
                <a:spcPts val="200"/>
              </a:spcAft>
              <a:defRPr sz="1600" b="1"/>
            </a:pPr>
            <a:r>
              <a:t>SD-WAN (5)</a:t>
            </a:r>
          </a:p>
          <a:p>
            <a:pPr lvl="1">
              <a:spcAft>
                <a:spcPts val="200"/>
              </a:spcAft>
              <a:defRPr sz="1400" b="0"/>
            </a:pPr>
            <a:r>
              <a:t>Carrier Corporation</a:t>
            </a:r>
          </a:p>
          <a:p>
            <a:pPr lvl="1">
              <a:spcAft>
                <a:spcPts val="200"/>
              </a:spcAft>
              <a:defRPr sz="1400" b="0"/>
            </a:pPr>
            <a:r>
              <a:t>Delta Airlines</a:t>
            </a:r>
          </a:p>
          <a:p>
            <a:pPr lvl="1">
              <a:spcAft>
                <a:spcPts val="200"/>
              </a:spcAft>
              <a:defRPr sz="1400" b="0"/>
            </a:pPr>
            <a:r>
              <a:t>Fidelity FIS</a:t>
            </a:r>
          </a:p>
          <a:p>
            <a:pPr lvl="1">
              <a:spcAft>
                <a:spcPts val="200"/>
              </a:spcAft>
              <a:defRPr sz="1400" b="0"/>
            </a:pPr>
            <a:r>
              <a:t>Huntington National Bank</a:t>
            </a:r>
          </a:p>
          <a:p>
            <a:pPr lvl="1">
              <a:spcAft>
                <a:spcPts val="200"/>
              </a:spcAft>
              <a:defRPr sz="1400" b="0"/>
            </a:pPr>
            <a:r>
              <a:t>Mass General Brigham</a:t>
            </a:r>
          </a:p>
          <a:p>
            <a:pPr>
              <a:spcAft>
                <a:spcPts val="200"/>
              </a:spcAft>
              <a:defRPr sz="1600" b="1"/>
            </a:pPr>
            <a:r>
              <a:t>Cat-C/SDA (1)</a:t>
            </a:r>
          </a:p>
          <a:p>
            <a:pPr lvl="1">
              <a:spcAft>
                <a:spcPts val="200"/>
              </a:spcAft>
              <a:defRPr sz="1400" b="0"/>
            </a:pPr>
            <a:r>
              <a:t>MGB Cluster1</a:t>
            </a:r>
          </a:p>
          <a:p>
            <a:pPr>
              <a:spcAft>
                <a:spcPts val="200"/>
              </a:spcAft>
              <a:defRPr sz="1600" b="1"/>
            </a:pPr>
            <a:r>
              <a:t>2) Parity complete @ 0% — no network access (NaC Parity Comments + Customer Network Access)</a:t>
            </a:r>
          </a:p>
          <a:p>
            <a:pPr>
              <a:spcAft>
                <a:spcPts val="200"/>
              </a:spcAft>
              <a:defRPr sz="1600" b="1"/>
            </a:pPr>
            <a:r>
              <a:t>SD-WAN (0)</a:t>
            </a:r>
          </a:p>
          <a:p>
            <a:pPr lvl="1">
              <a:spcAft>
                <a:spcPts val="200"/>
              </a:spcAft>
              <a:defRPr sz="1400" b="0"/>
            </a:pPr>
            <a:r>
              <a:t>—</a:t>
            </a:r>
          </a:p>
          <a:p>
            <a:pPr>
              <a:spcAft>
                <a:spcPts val="200"/>
              </a:spcAft>
              <a:defRPr sz="1600" b="1"/>
            </a:pPr>
            <a:r>
              <a:t>Cat-C/SDA (0)</a:t>
            </a:r>
          </a:p>
          <a:p>
            <a:pPr lvl="1">
              <a:spcAft>
                <a:spcPts val="200"/>
              </a:spcAft>
              <a:defRPr sz="1400" b="0"/>
            </a:pPr>
            <a:r>
              <a:t>—</a:t>
            </a:r>
          </a:p>
          <a:p>
            <a:pPr>
              <a:spcAft>
                <a:spcPts val="200"/>
              </a:spcAft>
              <a:defRPr sz="1600" b="1"/>
            </a:pPr>
            <a:r>
              <a:t>3) Customers with parity &gt;0% and &lt;80%</a:t>
            </a:r>
          </a:p>
          <a:p>
            <a:pPr>
              <a:spcAft>
                <a:spcPts val="200"/>
              </a:spcAft>
              <a:defRPr sz="1600" b="1"/>
            </a:pPr>
            <a:r>
              <a:t>SD-WAN (0)</a:t>
            </a:r>
          </a:p>
          <a:p>
            <a:pPr lvl="1">
              <a:spcAft>
                <a:spcPts val="200"/>
              </a:spcAft>
              <a:defRPr sz="1400" b="0"/>
            </a:pPr>
            <a:r>
              <a:t>—</a:t>
            </a:r>
          </a:p>
          <a:p>
            <a:pPr>
              <a:spcAft>
                <a:spcPts val="200"/>
              </a:spcAft>
              <a:defRPr sz="1600" b="1"/>
            </a:pPr>
            <a:r>
              <a:t>Cat-C/SDA (1)</a:t>
            </a:r>
          </a:p>
          <a:p>
            <a:pPr lvl="1">
              <a:spcAft>
                <a:spcPts val="200"/>
              </a:spcAft>
              <a:defRPr sz="1400" b="0"/>
            </a:pPr>
            <a:r>
              <a:t>MGB</a:t>
            </a:r>
          </a:p>
          <a:p>
            <a:pPr>
              <a:spcAft>
                <a:spcPts val="200"/>
              </a:spcAft>
              <a:defRPr sz="1600" b="1"/>
            </a:pPr>
            <a:r>
              <a:t>4) Parity not done for this technology (no numeric %, incomplete, or outside 1–3)</a:t>
            </a:r>
          </a:p>
          <a:p>
            <a:pPr>
              <a:spcAft>
                <a:spcPts val="200"/>
              </a:spcAft>
              <a:defRPr sz="1600" b="1"/>
            </a:pPr>
            <a:r>
              <a:t>SD-WAN (13)</a:t>
            </a:r>
          </a:p>
          <a:p>
            <a:pPr lvl="1">
              <a:spcAft>
                <a:spcPts val="200"/>
              </a:spcAft>
              <a:defRPr sz="1400" b="0"/>
            </a:pPr>
            <a:r>
              <a:t>Cigna</a:t>
            </a:r>
          </a:p>
          <a:p>
            <a:pPr lvl="1">
              <a:spcAft>
                <a:spcPts val="200"/>
              </a:spcAft>
              <a:defRPr sz="1400" b="0"/>
            </a:pPr>
            <a:r>
              <a:t>DTCC</a:t>
            </a:r>
          </a:p>
          <a:p>
            <a:pPr lvl="1">
              <a:spcAft>
                <a:spcPts val="200"/>
              </a:spcAft>
              <a:defRPr sz="1400" b="0"/>
            </a:pPr>
            <a:r>
              <a:t>Fannie Mae</a:t>
            </a:r>
          </a:p>
          <a:p>
            <a:pPr lvl="1">
              <a:spcAft>
                <a:spcPts val="200"/>
              </a:spcAft>
              <a:defRPr sz="1400" b="0"/>
            </a:pPr>
            <a:r>
              <a:t>FISERV</a:t>
            </a:r>
          </a:p>
          <a:p>
            <a:pPr lvl="1">
              <a:spcAft>
                <a:spcPts val="200"/>
              </a:spcAft>
              <a:defRPr sz="1400" b="0"/>
            </a:pPr>
            <a:r>
              <a:t>GlobalFoundries</a:t>
            </a:r>
          </a:p>
          <a:p>
            <a:pPr lvl="1">
              <a:spcAft>
                <a:spcPts val="200"/>
              </a:spcAft>
              <a:defRPr sz="1400" b="0"/>
            </a:pPr>
            <a:r>
              <a:t>MetLife</a:t>
            </a:r>
          </a:p>
          <a:p>
            <a:pPr lvl="1">
              <a:spcAft>
                <a:spcPts val="200"/>
              </a:spcAft>
              <a:defRPr sz="1400" b="0"/>
            </a:pPr>
            <a:r>
              <a:t>MGB</a:t>
            </a:r>
          </a:p>
          <a:p>
            <a:pPr lvl="1">
              <a:spcAft>
                <a:spcPts val="200"/>
              </a:spcAft>
              <a:defRPr sz="1400" b="0"/>
            </a:pPr>
            <a:r>
              <a:t>NFCU</a:t>
            </a:r>
          </a:p>
          <a:p>
            <a:pPr lvl="1">
              <a:spcAft>
                <a:spcPts val="200"/>
              </a:spcAft>
              <a:defRPr sz="1400" b="0"/>
            </a:pPr>
            <a:r>
              <a:t>NYCHHC</a:t>
            </a:r>
          </a:p>
          <a:p>
            <a:pPr lvl="1">
              <a:spcAft>
                <a:spcPts val="200"/>
              </a:spcAft>
              <a:defRPr sz="1400" b="0"/>
            </a:pPr>
            <a:r>
              <a:t>Pfizer</a:t>
            </a:r>
          </a:p>
          <a:p>
            <a:pPr lvl="1">
              <a:spcAft>
                <a:spcPts val="200"/>
              </a:spcAft>
              <a:defRPr sz="1400" b="0"/>
            </a:pPr>
            <a:r>
              <a:t>PNC Bank</a:t>
            </a:r>
          </a:p>
          <a:p>
            <a:pPr lvl="1">
              <a:spcAft>
                <a:spcPts val="200"/>
              </a:spcAft>
              <a:defRPr sz="1400" b="0"/>
            </a:pPr>
            <a:r>
              <a:t>SMBC</a:t>
            </a:r>
          </a:p>
          <a:p>
            <a:pPr lvl="1">
              <a:spcAft>
                <a:spcPts val="200"/>
              </a:spcAft>
              <a:defRPr sz="1400" b="0"/>
            </a:pPr>
            <a:r>
              <a:t>UMMS</a:t>
            </a:r>
          </a:p>
          <a:p>
            <a:pPr>
              <a:spcAft>
                <a:spcPts val="200"/>
              </a:spcAft>
              <a:defRPr sz="1600" b="1"/>
            </a:pPr>
            <a:r>
              <a:t>Cat-C/SDA (16)</a:t>
            </a:r>
          </a:p>
          <a:p>
            <a:pPr lvl="1">
              <a:spcAft>
                <a:spcPts val="200"/>
              </a:spcAft>
              <a:defRPr sz="1400" b="0"/>
            </a:pPr>
            <a:r>
              <a:t>ADP</a:t>
            </a:r>
          </a:p>
          <a:p>
            <a:pPr lvl="1">
              <a:spcAft>
                <a:spcPts val="200"/>
              </a:spcAft>
              <a:defRPr sz="1400" b="0"/>
            </a:pPr>
            <a:r>
              <a:t>Blackrock</a:t>
            </a:r>
          </a:p>
          <a:p>
            <a:pPr lvl="1">
              <a:spcAft>
                <a:spcPts val="200"/>
              </a:spcAft>
              <a:defRPr sz="1400" b="0"/>
            </a:pPr>
            <a:r>
              <a:t>Carnival Cruises</a:t>
            </a:r>
          </a:p>
          <a:p>
            <a:pPr lvl="1">
              <a:spcAft>
                <a:spcPts val="200"/>
              </a:spcAft>
              <a:defRPr sz="1400" b="0"/>
            </a:pPr>
            <a:r>
              <a:t>Cigna</a:t>
            </a:r>
          </a:p>
          <a:p>
            <a:pPr lvl="1">
              <a:spcAft>
                <a:spcPts val="200"/>
              </a:spcAft>
              <a:defRPr sz="1400" b="0"/>
            </a:pPr>
            <a:r>
              <a:t>DELTA</a:t>
            </a:r>
          </a:p>
          <a:p>
            <a:pPr lvl="1">
              <a:spcAft>
                <a:spcPts val="200"/>
              </a:spcAft>
              <a:defRPr sz="1400" b="0"/>
            </a:pPr>
            <a:r>
              <a:t>Fidelity</a:t>
            </a:r>
          </a:p>
          <a:p>
            <a:pPr lvl="1">
              <a:spcAft>
                <a:spcPts val="200"/>
              </a:spcAft>
              <a:defRPr sz="1400" b="0"/>
            </a:pPr>
            <a:r>
              <a:t>GlobalFoundries</a:t>
            </a:r>
          </a:p>
          <a:p>
            <a:pPr lvl="1">
              <a:spcAft>
                <a:spcPts val="200"/>
              </a:spcAft>
              <a:defRPr sz="1400" b="0"/>
            </a:pPr>
            <a:r>
              <a:t>Merck</a:t>
            </a:r>
          </a:p>
          <a:p>
            <a:pPr lvl="1">
              <a:spcAft>
                <a:spcPts val="200"/>
              </a:spcAft>
              <a:defRPr sz="1400" b="0"/>
            </a:pPr>
            <a:r>
              <a:t>MetLife</a:t>
            </a:r>
          </a:p>
          <a:p>
            <a:pPr lvl="1">
              <a:spcAft>
                <a:spcPts val="200"/>
              </a:spcAft>
              <a:defRPr sz="1400" b="0"/>
            </a:pPr>
            <a:r>
              <a:t>NYCHHC</a:t>
            </a:r>
          </a:p>
          <a:p>
            <a:pPr lvl="1">
              <a:spcAft>
                <a:spcPts val="200"/>
              </a:spcAft>
              <a:defRPr sz="1400" b="0"/>
            </a:pPr>
            <a:r>
              <a:t>NYULH</a:t>
            </a:r>
          </a:p>
          <a:p>
            <a:pPr lvl="1">
              <a:spcAft>
                <a:spcPts val="200"/>
              </a:spcAft>
              <a:defRPr sz="1400" b="0"/>
            </a:pPr>
            <a:r>
              <a:t>SMBC</a:t>
            </a:r>
          </a:p>
          <a:p>
            <a:pPr lvl="1">
              <a:spcAft>
                <a:spcPts val="200"/>
              </a:spcAft>
              <a:defRPr sz="1400" b="0"/>
            </a:pPr>
            <a:r>
              <a:t>State Street bank</a:t>
            </a:r>
          </a:p>
          <a:p>
            <a:pPr lvl="1">
              <a:spcAft>
                <a:spcPts val="200"/>
              </a:spcAft>
              <a:defRPr sz="1400" b="0"/>
            </a:pPr>
            <a:r>
              <a:t>Takeda</a:t>
            </a:r>
          </a:p>
          <a:p>
            <a:pPr lvl="1">
              <a:spcAft>
                <a:spcPts val="200"/>
              </a:spcAft>
              <a:defRPr sz="1400" b="0"/>
            </a:pPr>
            <a:r>
              <a:t>TIAA</a:t>
            </a:r>
          </a:p>
          <a:p>
            <a:pPr lvl="1">
              <a:spcAft>
                <a:spcPts val="200"/>
              </a:spcAft>
              <a:defRPr sz="1400" b="0"/>
            </a:pPr>
            <a:r>
              <a:t>UMMS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GES-West — Cat-C/SDA &amp; SD-WAN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 wrap="square"/>
          <a:lstStyle/>
          <a:p>
            <a:pPr>
              <a:spcAft>
                <a:spcPts val="200"/>
              </a:spcAft>
              <a:defRPr sz="1600" b="1"/>
            </a:pPr>
            <a:r>
              <a:t>1) Customers at ≥80% parity (by technology)</a:t>
            </a:r>
          </a:p>
          <a:p>
            <a:pPr>
              <a:spcAft>
                <a:spcPts val="200"/>
              </a:spcAft>
              <a:defRPr sz="1600" b="1"/>
            </a:pPr>
            <a:r>
              <a:t>SD-WAN (2)</a:t>
            </a:r>
          </a:p>
          <a:p>
            <a:pPr lvl="1">
              <a:spcAft>
                <a:spcPts val="200"/>
              </a:spcAft>
              <a:defRPr sz="1400" b="0"/>
            </a:pPr>
            <a:r>
              <a:t>CommonSpirit Health</a:t>
            </a:r>
          </a:p>
          <a:p>
            <a:pPr lvl="1">
              <a:spcAft>
                <a:spcPts val="200"/>
              </a:spcAft>
              <a:defRPr sz="1400" b="0"/>
            </a:pPr>
            <a:r>
              <a:t>Costco</a:t>
            </a:r>
          </a:p>
          <a:p>
            <a:pPr>
              <a:spcAft>
                <a:spcPts val="200"/>
              </a:spcAft>
              <a:defRPr sz="1600" b="1"/>
            </a:pPr>
            <a:r>
              <a:t>Cat-C/SDA (0)</a:t>
            </a:r>
          </a:p>
          <a:p>
            <a:pPr lvl="1">
              <a:spcAft>
                <a:spcPts val="200"/>
              </a:spcAft>
              <a:defRPr sz="1400" b="0"/>
            </a:pPr>
            <a:r>
              <a:t>—</a:t>
            </a:r>
          </a:p>
          <a:p>
            <a:pPr>
              <a:spcAft>
                <a:spcPts val="200"/>
              </a:spcAft>
              <a:defRPr sz="1600" b="1"/>
            </a:pPr>
            <a:r>
              <a:t>2) Parity complete @ 0% — no network access (NaC Parity Comments + Customer Network Access)</a:t>
            </a:r>
          </a:p>
          <a:p>
            <a:pPr>
              <a:spcAft>
                <a:spcPts val="200"/>
              </a:spcAft>
              <a:defRPr sz="1600" b="1"/>
            </a:pPr>
            <a:r>
              <a:t>SD-WAN (0)</a:t>
            </a:r>
          </a:p>
          <a:p>
            <a:pPr lvl="1">
              <a:spcAft>
                <a:spcPts val="200"/>
              </a:spcAft>
              <a:defRPr sz="1400" b="0"/>
            </a:pPr>
            <a:r>
              <a:t>—</a:t>
            </a:r>
          </a:p>
          <a:p>
            <a:pPr>
              <a:spcAft>
                <a:spcPts val="200"/>
              </a:spcAft>
              <a:defRPr sz="1600" b="1"/>
            </a:pPr>
            <a:r>
              <a:t>Cat-C/SDA (0)</a:t>
            </a:r>
          </a:p>
          <a:p>
            <a:pPr lvl="1">
              <a:spcAft>
                <a:spcPts val="200"/>
              </a:spcAft>
              <a:defRPr sz="1400" b="0"/>
            </a:pPr>
            <a:r>
              <a:t>—</a:t>
            </a:r>
          </a:p>
          <a:p>
            <a:pPr>
              <a:spcAft>
                <a:spcPts val="200"/>
              </a:spcAft>
              <a:defRPr sz="1600" b="1"/>
            </a:pPr>
            <a:r>
              <a:t>3) Customers with parity &gt;0% and &lt;80%</a:t>
            </a:r>
          </a:p>
          <a:p>
            <a:pPr>
              <a:spcAft>
                <a:spcPts val="200"/>
              </a:spcAft>
              <a:defRPr sz="1600" b="1"/>
            </a:pPr>
            <a:r>
              <a:t>SD-WAN (0)</a:t>
            </a:r>
          </a:p>
          <a:p>
            <a:pPr lvl="1">
              <a:spcAft>
                <a:spcPts val="200"/>
              </a:spcAft>
              <a:defRPr sz="1400" b="0"/>
            </a:pPr>
            <a:r>
              <a:t>—</a:t>
            </a:r>
          </a:p>
          <a:p>
            <a:pPr>
              <a:spcAft>
                <a:spcPts val="200"/>
              </a:spcAft>
              <a:defRPr sz="1600" b="1"/>
            </a:pPr>
            <a:r>
              <a:t>Cat-C/SDA (0)</a:t>
            </a:r>
          </a:p>
          <a:p>
            <a:pPr lvl="1">
              <a:spcAft>
                <a:spcPts val="200"/>
              </a:spcAft>
              <a:defRPr sz="1400" b="0"/>
            </a:pPr>
            <a:r>
              <a:t>—</a:t>
            </a:r>
          </a:p>
          <a:p>
            <a:pPr>
              <a:spcAft>
                <a:spcPts val="200"/>
              </a:spcAft>
              <a:defRPr sz="1600" b="1"/>
            </a:pPr>
            <a:r>
              <a:t>4) Parity not done for this technology (no numeric %, incomplete, or outside 1–3)</a:t>
            </a:r>
          </a:p>
          <a:p>
            <a:pPr>
              <a:spcAft>
                <a:spcPts val="200"/>
              </a:spcAft>
              <a:defRPr sz="1600" b="1"/>
            </a:pPr>
            <a:r>
              <a:t>SD-WAN (3)</a:t>
            </a:r>
          </a:p>
          <a:p>
            <a:pPr lvl="1">
              <a:spcAft>
                <a:spcPts val="200"/>
              </a:spcAft>
              <a:defRPr sz="1400" b="0"/>
            </a:pPr>
            <a:r>
              <a:t>Exepdia</a:t>
            </a:r>
          </a:p>
          <a:p>
            <a:pPr lvl="1">
              <a:spcAft>
                <a:spcPts val="200"/>
              </a:spcAft>
              <a:defRPr sz="1400" b="0"/>
            </a:pPr>
            <a:r>
              <a:t>Gilead</a:t>
            </a:r>
          </a:p>
          <a:p>
            <a:pPr lvl="1">
              <a:spcAft>
                <a:spcPts val="200"/>
              </a:spcAft>
              <a:defRPr sz="1400" b="0"/>
            </a:pPr>
            <a:r>
              <a:t>Pacific Gas and Electric</a:t>
            </a:r>
          </a:p>
          <a:p>
            <a:pPr>
              <a:spcAft>
                <a:spcPts val="200"/>
              </a:spcAft>
              <a:defRPr sz="1600" b="1"/>
            </a:pPr>
            <a:r>
              <a:t>Cat-C/SDA (5)</a:t>
            </a:r>
          </a:p>
          <a:p>
            <a:pPr lvl="1">
              <a:spcAft>
                <a:spcPts val="200"/>
              </a:spcAft>
              <a:defRPr sz="1400" b="0"/>
            </a:pPr>
            <a:r>
              <a:t>AAFES</a:t>
            </a:r>
          </a:p>
          <a:p>
            <a:pPr lvl="1">
              <a:spcAft>
                <a:spcPts val="200"/>
              </a:spcAft>
              <a:defRPr sz="1400" b="0"/>
            </a:pPr>
            <a:r>
              <a:t>Boeing</a:t>
            </a:r>
          </a:p>
          <a:p>
            <a:pPr lvl="1">
              <a:spcAft>
                <a:spcPts val="200"/>
              </a:spcAft>
              <a:defRPr sz="1400" b="0"/>
            </a:pPr>
            <a:r>
              <a:t>Charles Schwab</a:t>
            </a:r>
          </a:p>
          <a:p>
            <a:pPr lvl="1">
              <a:spcAft>
                <a:spcPts val="200"/>
              </a:spcAft>
              <a:defRPr sz="1400" b="0"/>
            </a:pPr>
            <a:r>
              <a:t>Commonspirit</a:t>
            </a:r>
          </a:p>
          <a:p>
            <a:pPr lvl="1">
              <a:spcAft>
                <a:spcPts val="200"/>
              </a:spcAft>
              <a:defRPr sz="1400" b="0"/>
            </a:pPr>
            <a:r>
              <a:t>Southern Cal Edison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GES-Central — Cat-C/SDA &amp; SD-WAN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 wrap="square"/>
          <a:lstStyle/>
          <a:p>
            <a:pPr>
              <a:spcAft>
                <a:spcPts val="200"/>
              </a:spcAft>
              <a:defRPr sz="1600" b="1"/>
            </a:pPr>
            <a:r>
              <a:t>1) Customers at ≥80% parity (by technology)</a:t>
            </a:r>
          </a:p>
          <a:p>
            <a:pPr>
              <a:spcAft>
                <a:spcPts val="200"/>
              </a:spcAft>
              <a:defRPr sz="1600" b="1"/>
            </a:pPr>
            <a:r>
              <a:t>SD-WAN (0)</a:t>
            </a:r>
          </a:p>
          <a:p>
            <a:pPr lvl="1">
              <a:spcAft>
                <a:spcPts val="200"/>
              </a:spcAft>
              <a:defRPr sz="1400" b="0"/>
            </a:pPr>
            <a:r>
              <a:t>—</a:t>
            </a:r>
          </a:p>
          <a:p>
            <a:pPr>
              <a:spcAft>
                <a:spcPts val="200"/>
              </a:spcAft>
              <a:defRPr sz="1600" b="1"/>
            </a:pPr>
            <a:r>
              <a:t>Cat-C/SDA (0)</a:t>
            </a:r>
          </a:p>
          <a:p>
            <a:pPr lvl="1">
              <a:spcAft>
                <a:spcPts val="200"/>
              </a:spcAft>
              <a:defRPr sz="1400" b="0"/>
            </a:pPr>
            <a:r>
              <a:t>—</a:t>
            </a:r>
          </a:p>
          <a:p>
            <a:pPr>
              <a:spcAft>
                <a:spcPts val="200"/>
              </a:spcAft>
              <a:defRPr sz="1600" b="1"/>
            </a:pPr>
            <a:r>
              <a:t>2) Parity complete @ 0% — no network access (NaC Parity Comments + Customer Network Access)</a:t>
            </a:r>
          </a:p>
          <a:p>
            <a:pPr>
              <a:spcAft>
                <a:spcPts val="200"/>
              </a:spcAft>
              <a:defRPr sz="1600" b="1"/>
            </a:pPr>
            <a:r>
              <a:t>SD-WAN (0)</a:t>
            </a:r>
          </a:p>
          <a:p>
            <a:pPr lvl="1">
              <a:spcAft>
                <a:spcPts val="200"/>
              </a:spcAft>
              <a:defRPr sz="1400" b="0"/>
            </a:pPr>
            <a:r>
              <a:t>—</a:t>
            </a:r>
          </a:p>
          <a:p>
            <a:pPr>
              <a:spcAft>
                <a:spcPts val="200"/>
              </a:spcAft>
              <a:defRPr sz="1600" b="1"/>
            </a:pPr>
            <a:r>
              <a:t>Cat-C/SDA (0)</a:t>
            </a:r>
          </a:p>
          <a:p>
            <a:pPr lvl="1">
              <a:spcAft>
                <a:spcPts val="200"/>
              </a:spcAft>
              <a:defRPr sz="1400" b="0"/>
            </a:pPr>
            <a:r>
              <a:t>—</a:t>
            </a:r>
          </a:p>
          <a:p>
            <a:pPr>
              <a:spcAft>
                <a:spcPts val="200"/>
              </a:spcAft>
              <a:defRPr sz="1600" b="1"/>
            </a:pPr>
            <a:r>
              <a:t>3) Customers with parity &gt;0% and &lt;80%</a:t>
            </a:r>
          </a:p>
          <a:p>
            <a:pPr>
              <a:spcAft>
                <a:spcPts val="200"/>
              </a:spcAft>
              <a:defRPr sz="1600" b="1"/>
            </a:pPr>
            <a:r>
              <a:t>SD-WAN (0)</a:t>
            </a:r>
          </a:p>
          <a:p>
            <a:pPr lvl="1">
              <a:spcAft>
                <a:spcPts val="200"/>
              </a:spcAft>
              <a:defRPr sz="1400" b="0"/>
            </a:pPr>
            <a:r>
              <a:t>—</a:t>
            </a:r>
          </a:p>
          <a:p>
            <a:pPr>
              <a:spcAft>
                <a:spcPts val="200"/>
              </a:spcAft>
              <a:defRPr sz="1600" b="1"/>
            </a:pPr>
            <a:r>
              <a:t>Cat-C/SDA (0)</a:t>
            </a:r>
          </a:p>
          <a:p>
            <a:pPr lvl="1">
              <a:spcAft>
                <a:spcPts val="200"/>
              </a:spcAft>
              <a:defRPr sz="1400" b="0"/>
            </a:pPr>
            <a:r>
              <a:t>—</a:t>
            </a:r>
          </a:p>
          <a:p>
            <a:pPr>
              <a:spcAft>
                <a:spcPts val="200"/>
              </a:spcAft>
              <a:defRPr sz="1600" b="1"/>
            </a:pPr>
            <a:r>
              <a:t>4) Parity not done for this technology (no numeric %, incomplete, or outside 1–3)</a:t>
            </a:r>
          </a:p>
          <a:p>
            <a:pPr>
              <a:spcAft>
                <a:spcPts val="200"/>
              </a:spcAft>
              <a:defRPr sz="1600" b="1"/>
            </a:pPr>
            <a:r>
              <a:t>SD-WAN (4)</a:t>
            </a:r>
          </a:p>
          <a:p>
            <a:pPr lvl="1">
              <a:spcAft>
                <a:spcPts val="200"/>
              </a:spcAft>
              <a:defRPr sz="1400" b="0"/>
            </a:pPr>
            <a:r>
              <a:t>Ameriprise</a:t>
            </a:r>
          </a:p>
          <a:p>
            <a:pPr lvl="1">
              <a:spcAft>
                <a:spcPts val="200"/>
              </a:spcAft>
              <a:defRPr sz="1400" b="0"/>
            </a:pPr>
            <a:r>
              <a:t>Autozone</a:t>
            </a:r>
          </a:p>
          <a:p>
            <a:pPr lvl="1">
              <a:spcAft>
                <a:spcPts val="200"/>
              </a:spcAft>
              <a:defRPr sz="1400" b="0"/>
            </a:pPr>
            <a:r>
              <a:t>Marshfield</a:t>
            </a:r>
          </a:p>
          <a:p>
            <a:pPr lvl="1">
              <a:spcAft>
                <a:spcPts val="200"/>
              </a:spcAft>
              <a:defRPr sz="1400" b="0"/>
            </a:pPr>
            <a:r>
              <a:t>Sanford Health</a:t>
            </a:r>
          </a:p>
          <a:p>
            <a:pPr>
              <a:spcAft>
                <a:spcPts val="200"/>
              </a:spcAft>
              <a:defRPr sz="1600" b="1"/>
            </a:pPr>
            <a:r>
              <a:t>Cat-C/SDA (4)</a:t>
            </a:r>
          </a:p>
          <a:p>
            <a:pPr lvl="1">
              <a:spcAft>
                <a:spcPts val="200"/>
              </a:spcAft>
              <a:defRPr sz="1400" b="0"/>
            </a:pPr>
            <a:r>
              <a:t>3M</a:t>
            </a:r>
          </a:p>
          <a:p>
            <a:pPr lvl="1">
              <a:spcAft>
                <a:spcPts val="200"/>
              </a:spcAft>
              <a:defRPr sz="1400" b="0"/>
            </a:pPr>
            <a:r>
              <a:t>Ameriprise</a:t>
            </a:r>
          </a:p>
          <a:p>
            <a:pPr lvl="1">
              <a:spcAft>
                <a:spcPts val="200"/>
              </a:spcAft>
              <a:defRPr sz="1400" b="0"/>
            </a:pPr>
            <a:r>
              <a:t>Marshfield</a:t>
            </a:r>
          </a:p>
          <a:p>
            <a:pPr lvl="1">
              <a:spcAft>
                <a:spcPts val="200"/>
              </a:spcAft>
              <a:defRPr sz="1400" b="0"/>
            </a:pPr>
            <a:r>
              <a:t>Sanford Health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GES-Premier — Cat-C/SDA &amp; SD-WAN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 wrap="square"/>
          <a:lstStyle/>
          <a:p>
            <a:pPr>
              <a:spcAft>
                <a:spcPts val="200"/>
              </a:spcAft>
              <a:defRPr sz="1600" b="1"/>
            </a:pPr>
            <a:r>
              <a:t>1) Customers at ≥80% parity (by technology)</a:t>
            </a:r>
          </a:p>
          <a:p>
            <a:pPr>
              <a:spcAft>
                <a:spcPts val="200"/>
              </a:spcAft>
              <a:defRPr sz="1600" b="1"/>
            </a:pPr>
            <a:r>
              <a:t>SD-WAN (1)</a:t>
            </a:r>
          </a:p>
          <a:p>
            <a:pPr lvl="1">
              <a:spcAft>
                <a:spcPts val="200"/>
              </a:spcAft>
              <a:defRPr sz="1400" b="0"/>
            </a:pPr>
            <a:r>
              <a:t>The Home Depot</a:t>
            </a:r>
          </a:p>
          <a:p>
            <a:pPr>
              <a:spcAft>
                <a:spcPts val="200"/>
              </a:spcAft>
              <a:defRPr sz="1600" b="1"/>
            </a:pPr>
            <a:r>
              <a:t>Cat-C/SDA (1)</a:t>
            </a:r>
          </a:p>
          <a:p>
            <a:pPr lvl="1">
              <a:spcAft>
                <a:spcPts val="200"/>
              </a:spcAft>
              <a:defRPr sz="1400" b="0"/>
            </a:pPr>
            <a:r>
              <a:t>HCA</a:t>
            </a:r>
          </a:p>
          <a:p>
            <a:pPr>
              <a:spcAft>
                <a:spcPts val="200"/>
              </a:spcAft>
              <a:defRPr sz="1600" b="1"/>
            </a:pPr>
            <a:r>
              <a:t>2) Parity complete @ 0% — no network access (NaC Parity Comments + Customer Network Access)</a:t>
            </a:r>
          </a:p>
          <a:p>
            <a:pPr>
              <a:spcAft>
                <a:spcPts val="200"/>
              </a:spcAft>
              <a:defRPr sz="1600" b="1"/>
            </a:pPr>
            <a:r>
              <a:t>SD-WAN (0)</a:t>
            </a:r>
          </a:p>
          <a:p>
            <a:pPr lvl="1">
              <a:spcAft>
                <a:spcPts val="200"/>
              </a:spcAft>
              <a:defRPr sz="1400" b="0"/>
            </a:pPr>
            <a:r>
              <a:t>—</a:t>
            </a:r>
          </a:p>
          <a:p>
            <a:pPr>
              <a:spcAft>
                <a:spcPts val="200"/>
              </a:spcAft>
              <a:defRPr sz="1600" b="1"/>
            </a:pPr>
            <a:r>
              <a:t>Cat-C/SDA (0)</a:t>
            </a:r>
          </a:p>
          <a:p>
            <a:pPr lvl="1">
              <a:spcAft>
                <a:spcPts val="200"/>
              </a:spcAft>
              <a:defRPr sz="1400" b="0"/>
            </a:pPr>
            <a:r>
              <a:t>—</a:t>
            </a:r>
          </a:p>
          <a:p>
            <a:pPr>
              <a:spcAft>
                <a:spcPts val="200"/>
              </a:spcAft>
              <a:defRPr sz="1600" b="1"/>
            </a:pPr>
            <a:r>
              <a:t>3) Customers with parity &gt;0% and &lt;80%</a:t>
            </a:r>
          </a:p>
          <a:p>
            <a:pPr>
              <a:spcAft>
                <a:spcPts val="200"/>
              </a:spcAft>
              <a:defRPr sz="1600" b="1"/>
            </a:pPr>
            <a:r>
              <a:t>SD-WAN (0)</a:t>
            </a:r>
          </a:p>
          <a:p>
            <a:pPr lvl="1">
              <a:spcAft>
                <a:spcPts val="200"/>
              </a:spcAft>
              <a:defRPr sz="1400" b="0"/>
            </a:pPr>
            <a:r>
              <a:t>—</a:t>
            </a:r>
          </a:p>
          <a:p>
            <a:pPr>
              <a:spcAft>
                <a:spcPts val="200"/>
              </a:spcAft>
              <a:defRPr sz="1600" b="1"/>
            </a:pPr>
            <a:r>
              <a:t>Cat-C/SDA (2)</a:t>
            </a:r>
          </a:p>
          <a:p>
            <a:pPr lvl="1">
              <a:spcAft>
                <a:spcPts val="200"/>
              </a:spcAft>
              <a:defRPr sz="1400" b="0"/>
            </a:pPr>
            <a:r>
              <a:t>MGB Cluster 2</a:t>
            </a:r>
          </a:p>
          <a:p>
            <a:pPr lvl="1">
              <a:spcAft>
                <a:spcPts val="200"/>
              </a:spcAft>
              <a:defRPr sz="1400" b="0"/>
            </a:pPr>
            <a:r>
              <a:t>MGB SVS Lab</a:t>
            </a:r>
          </a:p>
          <a:p>
            <a:pPr>
              <a:spcAft>
                <a:spcPts val="200"/>
              </a:spcAft>
              <a:defRPr sz="1600" b="1"/>
            </a:pPr>
            <a:r>
              <a:t>4) Parity not done for this technology (no numeric %, incomplete, or outside 1–3)</a:t>
            </a:r>
          </a:p>
          <a:p>
            <a:pPr>
              <a:spcAft>
                <a:spcPts val="200"/>
              </a:spcAft>
              <a:defRPr sz="1600" b="1"/>
            </a:pPr>
            <a:r>
              <a:t>SD-WAN (3)</a:t>
            </a:r>
          </a:p>
          <a:p>
            <a:pPr lvl="1">
              <a:spcAft>
                <a:spcPts val="200"/>
              </a:spcAft>
              <a:defRPr sz="1400" b="0"/>
            </a:pPr>
            <a:r>
              <a:t>Bank of America</a:t>
            </a:r>
          </a:p>
          <a:p>
            <a:pPr lvl="1">
              <a:spcAft>
                <a:spcPts val="200"/>
              </a:spcAft>
              <a:defRPr sz="1400" b="0"/>
            </a:pPr>
            <a:r>
              <a:t>CVS Pharmacy</a:t>
            </a:r>
          </a:p>
          <a:p>
            <a:pPr lvl="1">
              <a:spcAft>
                <a:spcPts val="200"/>
              </a:spcAft>
              <a:defRPr sz="1400" b="0"/>
            </a:pPr>
            <a:r>
              <a:t>IBM</a:t>
            </a:r>
          </a:p>
          <a:p>
            <a:pPr>
              <a:spcAft>
                <a:spcPts val="200"/>
              </a:spcAft>
              <a:defRPr sz="1600" b="1"/>
            </a:pPr>
            <a:r>
              <a:t>Cat-C/SDA (4)</a:t>
            </a:r>
          </a:p>
          <a:p>
            <a:pPr lvl="1">
              <a:spcAft>
                <a:spcPts val="200"/>
              </a:spcAft>
              <a:defRPr sz="1400" b="0"/>
            </a:pPr>
            <a:r>
              <a:t>BNY</a:t>
            </a:r>
          </a:p>
          <a:p>
            <a:pPr lvl="1">
              <a:spcAft>
                <a:spcPts val="200"/>
              </a:spcAft>
              <a:defRPr sz="1400" b="0"/>
            </a:pPr>
            <a:r>
              <a:t>CVS Pharmacy - TLM</a:t>
            </a:r>
          </a:p>
          <a:p>
            <a:pPr lvl="1">
              <a:spcAft>
                <a:spcPts val="200"/>
              </a:spcAft>
              <a:defRPr sz="1400" b="0"/>
            </a:pPr>
            <a:r>
              <a:t>Ford</a:t>
            </a:r>
          </a:p>
          <a:p>
            <a:pPr lvl="1">
              <a:spcAft>
                <a:spcPts val="200"/>
              </a:spcAft>
              <a:defRPr sz="1400" b="0"/>
            </a:pPr>
            <a:r>
              <a:t>IBM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Unassigned — Cat-C/SDA &amp; SD-WAN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 wrap="square"/>
          <a:lstStyle/>
          <a:p>
            <a:pPr>
              <a:spcAft>
                <a:spcPts val="200"/>
              </a:spcAft>
              <a:defRPr sz="1600" b="1"/>
            </a:pPr>
            <a:r>
              <a:t>1) Customers at ≥80% parity (by technology)</a:t>
            </a:r>
          </a:p>
          <a:p>
            <a:pPr>
              <a:spcAft>
                <a:spcPts val="200"/>
              </a:spcAft>
              <a:defRPr sz="1600" b="1"/>
            </a:pPr>
            <a:r>
              <a:t>SD-WAN (12)</a:t>
            </a:r>
          </a:p>
          <a:p>
            <a:pPr lvl="1">
              <a:spcAft>
                <a:spcPts val="200"/>
              </a:spcAft>
              <a:defRPr sz="1400" b="0"/>
            </a:pPr>
            <a:r>
              <a:t>Abbvie</a:t>
            </a:r>
          </a:p>
          <a:p>
            <a:pPr lvl="1">
              <a:spcAft>
                <a:spcPts val="200"/>
              </a:spcAft>
              <a:defRPr sz="1400" b="0"/>
            </a:pPr>
            <a:r>
              <a:t>British Telecom - Bristol Myers Squibb</a:t>
            </a:r>
          </a:p>
          <a:p>
            <a:pPr lvl="1">
              <a:spcAft>
                <a:spcPts val="200"/>
              </a:spcAft>
              <a:defRPr sz="1400" b="0"/>
            </a:pPr>
            <a:r>
              <a:t>CDK Global</a:t>
            </a:r>
          </a:p>
          <a:p>
            <a:pPr lvl="1">
              <a:spcAft>
                <a:spcPts val="200"/>
              </a:spcAft>
              <a:defRPr sz="1400" b="0"/>
            </a:pPr>
            <a:r>
              <a:t>CoX</a:t>
            </a:r>
          </a:p>
          <a:p>
            <a:pPr lvl="1">
              <a:spcAft>
                <a:spcPts val="200"/>
              </a:spcAft>
              <a:defRPr sz="1400" b="0"/>
            </a:pPr>
            <a:r>
              <a:t>Exelon</a:t>
            </a:r>
          </a:p>
          <a:p>
            <a:pPr lvl="1">
              <a:spcAft>
                <a:spcPts val="200"/>
              </a:spcAft>
              <a:defRPr sz="1400" b="0"/>
            </a:pPr>
            <a:r>
              <a:t>Gilead Sciences</a:t>
            </a:r>
          </a:p>
          <a:p>
            <a:pPr lvl="1">
              <a:spcAft>
                <a:spcPts val="200"/>
              </a:spcAft>
              <a:defRPr sz="1400" b="0"/>
            </a:pPr>
            <a:r>
              <a:t>HCA Healthcare</a:t>
            </a:r>
          </a:p>
          <a:p>
            <a:pPr lvl="1">
              <a:spcAft>
                <a:spcPts val="200"/>
              </a:spcAft>
              <a:defRPr sz="1400" b="0"/>
            </a:pPr>
            <a:r>
              <a:t>KeyBank</a:t>
            </a:r>
          </a:p>
          <a:p>
            <a:pPr lvl="1">
              <a:spcAft>
                <a:spcPts val="200"/>
              </a:spcAft>
              <a:defRPr sz="1400" b="0"/>
            </a:pPr>
            <a:r>
              <a:t>Mayo Clinic</a:t>
            </a:r>
          </a:p>
          <a:p>
            <a:pPr lvl="1">
              <a:spcAft>
                <a:spcPts val="200"/>
              </a:spcAft>
              <a:defRPr sz="1400" b="0"/>
            </a:pPr>
            <a:r>
              <a:t>Micron</a:t>
            </a:r>
          </a:p>
          <a:p>
            <a:pPr lvl="1">
              <a:spcAft>
                <a:spcPts val="200"/>
              </a:spcAft>
              <a:defRPr sz="1400" b="0"/>
            </a:pPr>
            <a:r>
              <a:t>THD SD-WAN (Overlay 1-4)</a:t>
            </a:r>
          </a:p>
          <a:p>
            <a:pPr lvl="1">
              <a:spcAft>
                <a:spcPts val="200"/>
              </a:spcAft>
              <a:defRPr sz="1400" b="0"/>
            </a:pPr>
            <a:r>
              <a:t>United Airlines</a:t>
            </a:r>
          </a:p>
          <a:p>
            <a:pPr>
              <a:spcAft>
                <a:spcPts val="200"/>
              </a:spcAft>
              <a:defRPr sz="1600" b="1"/>
            </a:pPr>
            <a:r>
              <a:t>Cat-C/SDA (3)</a:t>
            </a:r>
          </a:p>
          <a:p>
            <a:pPr lvl="1">
              <a:spcAft>
                <a:spcPts val="200"/>
              </a:spcAft>
              <a:defRPr sz="1400" b="0"/>
            </a:pPr>
            <a:r>
              <a:t>Gilead</a:t>
            </a:r>
          </a:p>
          <a:p>
            <a:pPr lvl="1">
              <a:spcAft>
                <a:spcPts val="200"/>
              </a:spcAft>
              <a:defRPr sz="1400" b="0"/>
            </a:pPr>
            <a:r>
              <a:t>Montefiore</a:t>
            </a:r>
          </a:p>
          <a:p>
            <a:pPr lvl="1">
              <a:spcAft>
                <a:spcPts val="200"/>
              </a:spcAft>
              <a:defRPr sz="1400" b="0"/>
            </a:pPr>
            <a:r>
              <a:t>Tepper Sports &amp; Entertainment</a:t>
            </a:r>
          </a:p>
          <a:p>
            <a:pPr>
              <a:spcAft>
                <a:spcPts val="200"/>
              </a:spcAft>
              <a:defRPr sz="1600" b="1"/>
            </a:pPr>
            <a:r>
              <a:t>2) Parity complete @ 0% — no network access (NaC Parity Comments + Customer Network Access)</a:t>
            </a:r>
          </a:p>
          <a:p>
            <a:pPr>
              <a:spcAft>
                <a:spcPts val="200"/>
              </a:spcAft>
              <a:defRPr sz="1600" b="1"/>
            </a:pPr>
            <a:r>
              <a:t>SD-WAN (0)</a:t>
            </a:r>
          </a:p>
          <a:p>
            <a:pPr lvl="1">
              <a:spcAft>
                <a:spcPts val="200"/>
              </a:spcAft>
              <a:defRPr sz="1400" b="0"/>
            </a:pPr>
            <a:r>
              <a:t>—</a:t>
            </a:r>
          </a:p>
          <a:p>
            <a:pPr>
              <a:spcAft>
                <a:spcPts val="200"/>
              </a:spcAft>
              <a:defRPr sz="1600" b="1"/>
            </a:pPr>
            <a:r>
              <a:t>Cat-C/SDA (0)</a:t>
            </a:r>
          </a:p>
          <a:p>
            <a:pPr lvl="1">
              <a:spcAft>
                <a:spcPts val="200"/>
              </a:spcAft>
              <a:defRPr sz="1400" b="0"/>
            </a:pPr>
            <a:r>
              <a:t>—</a:t>
            </a:r>
          </a:p>
          <a:p>
            <a:pPr>
              <a:spcAft>
                <a:spcPts val="200"/>
              </a:spcAft>
              <a:defRPr sz="1600" b="1"/>
            </a:pPr>
            <a:r>
              <a:t>3) Customers with parity &gt;0% and &lt;80%</a:t>
            </a:r>
          </a:p>
          <a:p>
            <a:pPr>
              <a:spcAft>
                <a:spcPts val="200"/>
              </a:spcAft>
              <a:defRPr sz="1600" b="1"/>
            </a:pPr>
            <a:r>
              <a:t>SD-WAN (0)</a:t>
            </a:r>
          </a:p>
          <a:p>
            <a:pPr lvl="1">
              <a:spcAft>
                <a:spcPts val="200"/>
              </a:spcAft>
              <a:defRPr sz="1400" b="0"/>
            </a:pPr>
            <a:r>
              <a:t>—</a:t>
            </a:r>
          </a:p>
          <a:p>
            <a:pPr>
              <a:spcAft>
                <a:spcPts val="200"/>
              </a:spcAft>
              <a:defRPr sz="1600" b="1"/>
            </a:pPr>
            <a:r>
              <a:t>Cat-C/SDA (0)</a:t>
            </a:r>
          </a:p>
          <a:p>
            <a:pPr lvl="1">
              <a:spcAft>
                <a:spcPts val="200"/>
              </a:spcAft>
              <a:defRPr sz="1400" b="0"/>
            </a:pPr>
            <a:r>
              <a:t>—</a:t>
            </a:r>
          </a:p>
          <a:p>
            <a:pPr>
              <a:spcAft>
                <a:spcPts val="200"/>
              </a:spcAft>
              <a:defRPr sz="1600" b="1"/>
            </a:pPr>
            <a:r>
              <a:t>4) Parity not done for this technology (no numeric %, incomplete, or outside 1–3)</a:t>
            </a:r>
          </a:p>
          <a:p>
            <a:pPr>
              <a:spcAft>
                <a:spcPts val="200"/>
              </a:spcAft>
              <a:defRPr sz="1600" b="1"/>
            </a:pPr>
            <a:r>
              <a:t>SD-WAN (8)</a:t>
            </a:r>
          </a:p>
          <a:p>
            <a:pPr lvl="1">
              <a:spcAft>
                <a:spcPts val="200"/>
              </a:spcAft>
              <a:defRPr sz="1400" b="0"/>
            </a:pPr>
            <a:r>
              <a:t>Alcon</a:t>
            </a:r>
          </a:p>
          <a:p>
            <a:pPr lvl="1">
              <a:spcAft>
                <a:spcPts val="200"/>
              </a:spcAft>
              <a:defRPr sz="1400" b="0"/>
            </a:pPr>
            <a:r>
              <a:t>ExxonMobil</a:t>
            </a:r>
          </a:p>
          <a:p>
            <a:pPr lvl="1">
              <a:spcAft>
                <a:spcPts val="200"/>
              </a:spcAft>
              <a:defRPr sz="1400" b="0"/>
            </a:pPr>
            <a:r>
              <a:t>Ford</a:t>
            </a:r>
          </a:p>
          <a:p>
            <a:pPr lvl="1">
              <a:spcAft>
                <a:spcPts val="200"/>
              </a:spcAft>
              <a:defRPr sz="1400" b="0"/>
            </a:pPr>
            <a:r>
              <a:t>ICE -DHS (Department of Homeland Security)</a:t>
            </a:r>
          </a:p>
          <a:p>
            <a:pPr lvl="1">
              <a:spcAft>
                <a:spcPts val="200"/>
              </a:spcAft>
              <a:defRPr sz="1400" b="0"/>
            </a:pPr>
            <a:r>
              <a:t>John Ryan - Test</a:t>
            </a:r>
          </a:p>
          <a:p>
            <a:pPr lvl="1">
              <a:spcAft>
                <a:spcPts val="200"/>
              </a:spcAft>
              <a:defRPr sz="1400" b="0"/>
            </a:pPr>
            <a:r>
              <a:t>New York City Health and Hospitals</a:t>
            </a:r>
          </a:p>
          <a:p>
            <a:pPr lvl="1">
              <a:spcAft>
                <a:spcPts val="200"/>
              </a:spcAft>
              <a:defRPr sz="1400" b="0"/>
            </a:pPr>
            <a:r>
              <a:t>TransUnion</a:t>
            </a:r>
          </a:p>
          <a:p>
            <a:pPr lvl="1">
              <a:spcAft>
                <a:spcPts val="200"/>
              </a:spcAft>
              <a:defRPr sz="1400" b="0"/>
            </a:pPr>
            <a:r>
              <a:t>Truist</a:t>
            </a:r>
          </a:p>
          <a:p>
            <a:pPr>
              <a:spcAft>
                <a:spcPts val="200"/>
              </a:spcAft>
              <a:defRPr sz="1600" b="1"/>
            </a:pPr>
            <a:r>
              <a:t>Cat-C/SDA (10)</a:t>
            </a:r>
          </a:p>
          <a:p>
            <a:pPr lvl="1">
              <a:spcAft>
                <a:spcPts val="200"/>
              </a:spcAft>
              <a:defRPr sz="1400" b="0"/>
            </a:pPr>
            <a:r>
              <a:t>Bank Of America, Cedars Sinai</a:t>
            </a:r>
          </a:p>
          <a:p>
            <a:pPr lvl="1">
              <a:spcAft>
                <a:spcPts val="200"/>
              </a:spcAft>
              <a:defRPr sz="1400" b="0"/>
            </a:pPr>
            <a:r>
              <a:t>Charter Enterprise</a:t>
            </a:r>
          </a:p>
          <a:p>
            <a:pPr lvl="1">
              <a:spcAft>
                <a:spcPts val="200"/>
              </a:spcAft>
              <a:defRPr sz="1400" b="0"/>
            </a:pPr>
            <a:r>
              <a:t>Exelon</a:t>
            </a:r>
          </a:p>
          <a:p>
            <a:pPr lvl="1">
              <a:spcAft>
                <a:spcPts val="200"/>
              </a:spcAft>
              <a:defRPr sz="1400" b="0"/>
            </a:pPr>
            <a:r>
              <a:t>General Motors, United Health Group, Deloitte, Costco, Amtrak and Commonwealth of Pennsylvania</a:t>
            </a:r>
          </a:p>
          <a:p>
            <a:pPr lvl="1">
              <a:spcAft>
                <a:spcPts val="200"/>
              </a:spcAft>
              <a:defRPr sz="1400" b="0"/>
            </a:pPr>
            <a:r>
              <a:t>L'Oreal</a:t>
            </a:r>
          </a:p>
          <a:p>
            <a:pPr lvl="1">
              <a:spcAft>
                <a:spcPts val="200"/>
              </a:spcAft>
              <a:defRPr sz="1400" b="0"/>
            </a:pPr>
            <a:r>
              <a:t>Morgan Stanley</a:t>
            </a:r>
          </a:p>
          <a:p>
            <a:pPr lvl="1">
              <a:spcAft>
                <a:spcPts val="200"/>
              </a:spcAft>
              <a:defRPr sz="1400" b="0"/>
            </a:pPr>
            <a:r>
              <a:t>Publix</a:t>
            </a:r>
          </a:p>
          <a:p>
            <a:pPr lvl="1">
              <a:spcAft>
                <a:spcPts val="200"/>
              </a:spcAft>
              <a:defRPr sz="1400" b="0"/>
            </a:pPr>
            <a:r>
              <a:t>Southern California Edison</a:t>
            </a:r>
          </a:p>
          <a:p>
            <a:pPr lvl="1">
              <a:spcAft>
                <a:spcPts val="200"/>
              </a:spcAft>
              <a:defRPr sz="1400" b="0"/>
            </a:pPr>
            <a:r>
              <a:t>Truist</a:t>
            </a:r>
          </a:p>
          <a:p>
            <a:pPr lvl="1">
              <a:spcAft>
                <a:spcPts val="200"/>
              </a:spcAft>
              <a:defRPr sz="1400" b="0"/>
            </a:pPr>
            <a:r>
              <a:t>Wells Fargo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-2025-Dark">
  <a:themeElements>
    <a:clrScheme name="CSCO_2025_Colors">
      <a:dk1>
        <a:srgbClr val="FFFFFF"/>
      </a:dk1>
      <a:lt1>
        <a:srgbClr val="07182D"/>
      </a:lt1>
      <a:dk2>
        <a:srgbClr val="B4B9C0"/>
      </a:dk2>
      <a:lt2>
        <a:srgbClr val="525E6C"/>
      </a:lt2>
      <a:accent1>
        <a:srgbClr val="02C8FF"/>
      </a:accent1>
      <a:accent2>
        <a:srgbClr val="0A60FF"/>
      </a:accent2>
      <a:accent3>
        <a:srgbClr val="FF007F"/>
      </a:accent3>
      <a:accent4>
        <a:srgbClr val="FF9000"/>
      </a:accent4>
      <a:accent5>
        <a:srgbClr val="D6D6D6"/>
      </a:accent5>
      <a:accent6>
        <a:srgbClr val="6B6B6B"/>
      </a:accent6>
      <a:hlink>
        <a:srgbClr val="FFFFFF"/>
      </a:hlink>
      <a:folHlink>
        <a:srgbClr val="C0C0C0"/>
      </a:folHlink>
    </a:clrScheme>
    <a:fontScheme name="Cisco PowerPoint 02-26-2025">
      <a:majorFont>
        <a:latin typeface="CiscoSansTT Medium"/>
        <a:ea typeface=""/>
        <a:cs typeface=""/>
      </a:majorFont>
      <a:minorFont>
        <a:latin typeface="CiscoSansT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5875">
          <a:solidFill>
            <a:schemeClr val="bg2"/>
          </a:solidFill>
        </a:ln>
        <a:effectLst/>
      </a:spPr>
      <a:bodyPr wrap="square" lIns="182880" tIns="182880" rIns="182880" bIns="182880" rtlCol="0" anchor="t" anchorCtr="0">
        <a:noAutofit/>
      </a:bodyPr>
      <a:lstStyle>
        <a:defPPr marL="182880" indent="-182880" algn="l">
          <a:buFont typeface="Arial" panose="020B0604020202020204" pitchFamily="34" charset="0"/>
          <a:buChar char="•"/>
          <a:defRPr sz="1600"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marL="182880" indent="-182880" algn="l" defTabSz="912276" rtl="0" eaLnBrk="1" fontAlgn="base" hangingPunct="1">
          <a:lnSpc>
            <a:spcPct val="100000"/>
          </a:lnSpc>
          <a:spcBef>
            <a:spcPts val="0"/>
          </a:spcBef>
          <a:spcAft>
            <a:spcPts val="1000"/>
          </a:spcAft>
          <a:buClr>
            <a:schemeClr val="bg1"/>
          </a:buClr>
          <a:buSzPct val="100000"/>
          <a:buFont typeface="Arial" panose="020B0604020202020204" pitchFamily="34" charset="0"/>
          <a:buChar char="•"/>
          <a:defRPr sz="1600" kern="1200" dirty="0" err="1" smtClean="0">
            <a:solidFill>
              <a:schemeClr val="bg1"/>
            </a:solidFill>
            <a:latin typeface="+mn-lt"/>
            <a:ea typeface="ＭＳ Ｐゴシック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-2025-Dark" id="{AE7C598B-6687-E04E-AA05-FA6BAFDC8F0A}" vid="{536A6278-61C4-A444-9DCF-E7CD08E5D9E3}"/>
    </a:ext>
  </a:extLst>
</a:theme>
</file>

<file path=docMetadata/LabelInfo.xml><?xml version="1.0" encoding="utf-8"?>
<clbl:labelList xmlns:clbl="http://schemas.microsoft.com/office/2020/mipLabelMetadata">
  <clbl:label id="{c8f49a32-fde3-48a5-9266-b5b0972a22dc}" enabled="1" method="Standard" siteId="{5ae1af62-9505-4097-a69a-c1553ef7840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PPT-2025-Dark</Template>
  <TotalTime>2437</TotalTime>
  <Words>750</Words>
  <Application>Microsoft Macintosh PowerPoint</Application>
  <PresentationFormat>Widescreen</PresentationFormat>
  <Paragraphs>121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CiscoSansTT Medium</vt:lpstr>
      <vt:lpstr>CiscoSansTT</vt:lpstr>
      <vt:lpstr>Aptos</vt:lpstr>
      <vt:lpstr>Arial</vt:lpstr>
      <vt:lpstr>PPT-2025-Dark</vt:lpstr>
      <vt:lpstr>SaC / NaC Adoption Strategy</vt:lpstr>
      <vt:lpstr>Phases</vt:lpstr>
      <vt:lpstr>Phase 1: NaC-Parity – SDWAN and Cat-C</vt:lpstr>
      <vt:lpstr>Phase 2: Engage and Strategize with customers - &gt;80%**</vt:lpstr>
      <vt:lpstr>Phase 3: Staffing and Success Criteria</vt:lpstr>
      <vt:lpstr>Phase 4: As Applicable – Additional Training/Handoff</vt:lpstr>
      <vt:lpstr>Current Delivery Process</vt:lpstr>
      <vt:lpstr>New Delivery Process</vt:lpstr>
      <vt:lpstr>Typical NaC Feature Development Process</vt:lpstr>
      <vt:lpstr>In Grand Schema of Things – What do we prioritize?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Dhrumil Prajapati (dhprajap)</dc:creator>
  <cp:lastModifiedBy>Mike Brown (michabr4)</cp:lastModifiedBy>
  <cp:revision>2</cp:revision>
  <dcterms:created xsi:type="dcterms:W3CDTF">2026-03-05T13:29:41Z</dcterms:created>
  <dcterms:modified xsi:type="dcterms:W3CDTF">2026-04-16T04:19:16Z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PPT-2025-Dark:8</vt:lpwstr>
  </property>
  <property fmtid="{D5CDD505-2E9C-101B-9397-08002B2CF9AE}" pid="3" name="ClassificationContentMarkingFooterText">
    <vt:lpwstr>Cisco Confidential</vt:lpwstr>
  </property>
</Properties>
</file>